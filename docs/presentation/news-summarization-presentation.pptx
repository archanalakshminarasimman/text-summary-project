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eague Spartan" charset="1" panose="00000800000000000000"/>
      <p:regular r:id="rId30"/>
    </p:embeddedFont>
    <p:embeddedFont>
      <p:font typeface="Glacial Indifference Bold" charset="1" panose="00000800000000000000"/>
      <p:regular r:id="rId31"/>
    </p:embeddedFont>
    <p:embeddedFont>
      <p:font typeface="Glacial Indifference" charset="1" panose="00000000000000000000"/>
      <p:regular r:id="rId32"/>
    </p:embeddedFont>
    <p:embeddedFont>
      <p:font typeface="Canva Sans Bold" charset="1" panose="020B0803030501040103"/>
      <p:regular r:id="rId33"/>
    </p:embeddedFont>
    <p:embeddedFont>
      <p:font typeface="Varela Round" charset="1" panose="00000500000000000000"/>
      <p:regular r:id="rId34"/>
    </p:embeddedFont>
    <p:embeddedFont>
      <p:font typeface="Libre Baskerville Bold" charset="1" panose="02000000000000000000"/>
      <p:regular r:id="rId35"/>
    </p:embeddedFont>
    <p:embeddedFont>
      <p:font typeface="Canva Sans" charset="1" panose="020B05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5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6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6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6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svg" Type="http://schemas.openxmlformats.org/officeDocument/2006/relationships/image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https://d4fffb12f4b7d982d1.gradio.live" TargetMode="External" Type="http://schemas.openxmlformats.org/officeDocument/2006/relationships/hyperlink"/><Relationship Id="rId5" Target="https://d4fffb12f4b7d982d1.gradio.live" TargetMode="External" Type="http://schemas.openxmlformats.org/officeDocument/2006/relationships/hyperlink"/><Relationship Id="rId6" Target="../media/image82.png" Type="http://schemas.openxmlformats.org/officeDocument/2006/relationships/image"/><Relationship Id="rId7" Target="../media/image8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svg" Type="http://schemas.openxmlformats.org/officeDocument/2006/relationships/image"/><Relationship Id="rId12" Target="../media/image98.png" Type="http://schemas.openxmlformats.org/officeDocument/2006/relationships/image"/><Relationship Id="rId13" Target="../media/image99.svg" Type="http://schemas.openxmlformats.org/officeDocument/2006/relationships/image"/><Relationship Id="rId14" Target="../media/image100.png" Type="http://schemas.openxmlformats.org/officeDocument/2006/relationships/image"/><Relationship Id="rId15" Target="../media/image10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2" Target="../media/image88.png" Type="http://schemas.openxmlformats.org/officeDocument/2006/relationships/image"/><Relationship Id="rId3" Target="../media/image89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103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89029" y="0"/>
            <a:ext cx="498971" cy="1885221"/>
          </a:xfrm>
          <a:custGeom>
            <a:avLst/>
            <a:gdLst/>
            <a:ahLst/>
            <a:cxnLst/>
            <a:rect r="r" b="b" t="t" l="l"/>
            <a:pathLst>
              <a:path h="1885221" w="498971">
                <a:moveTo>
                  <a:pt x="0" y="0"/>
                </a:moveTo>
                <a:lnTo>
                  <a:pt x="498971" y="0"/>
                </a:lnTo>
                <a:lnTo>
                  <a:pt x="498971" y="1885221"/>
                </a:lnTo>
                <a:lnTo>
                  <a:pt x="0" y="1885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2619" y="-329671"/>
            <a:ext cx="4458770" cy="1990848"/>
          </a:xfrm>
          <a:custGeom>
            <a:avLst/>
            <a:gdLst/>
            <a:ahLst/>
            <a:cxnLst/>
            <a:rect r="r" b="b" t="t" l="l"/>
            <a:pathLst>
              <a:path h="1990848" w="4458770">
                <a:moveTo>
                  <a:pt x="0" y="0"/>
                </a:moveTo>
                <a:lnTo>
                  <a:pt x="4458770" y="0"/>
                </a:lnTo>
                <a:lnTo>
                  <a:pt x="4458770" y="1990848"/>
                </a:lnTo>
                <a:lnTo>
                  <a:pt x="0" y="1990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5494" y="1759742"/>
            <a:ext cx="1535005" cy="3437851"/>
          </a:xfrm>
          <a:custGeom>
            <a:avLst/>
            <a:gdLst/>
            <a:ahLst/>
            <a:cxnLst/>
            <a:rect r="r" b="b" t="t" l="l"/>
            <a:pathLst>
              <a:path h="3437851" w="1535005">
                <a:moveTo>
                  <a:pt x="0" y="0"/>
                </a:moveTo>
                <a:lnTo>
                  <a:pt x="1535006" y="0"/>
                </a:lnTo>
                <a:lnTo>
                  <a:pt x="1535006" y="3437850"/>
                </a:lnTo>
                <a:lnTo>
                  <a:pt x="0" y="3437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72105" y="8524752"/>
            <a:ext cx="4458770" cy="1990848"/>
          </a:xfrm>
          <a:custGeom>
            <a:avLst/>
            <a:gdLst/>
            <a:ahLst/>
            <a:cxnLst/>
            <a:rect r="r" b="b" t="t" l="l"/>
            <a:pathLst>
              <a:path h="1990848" w="4458770">
                <a:moveTo>
                  <a:pt x="0" y="0"/>
                </a:moveTo>
                <a:lnTo>
                  <a:pt x="4458770" y="0"/>
                </a:lnTo>
                <a:lnTo>
                  <a:pt x="4458770" y="1990848"/>
                </a:lnTo>
                <a:lnTo>
                  <a:pt x="0" y="1990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5008830"/>
            <a:ext cx="1535005" cy="3437851"/>
          </a:xfrm>
          <a:custGeom>
            <a:avLst/>
            <a:gdLst/>
            <a:ahLst/>
            <a:cxnLst/>
            <a:rect r="r" b="b" t="t" l="l"/>
            <a:pathLst>
              <a:path h="3437851" w="1535005">
                <a:moveTo>
                  <a:pt x="0" y="0"/>
                </a:moveTo>
                <a:lnTo>
                  <a:pt x="1535005" y="0"/>
                </a:lnTo>
                <a:lnTo>
                  <a:pt x="1535005" y="3437850"/>
                </a:lnTo>
                <a:lnTo>
                  <a:pt x="0" y="3437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36" y="8311287"/>
            <a:ext cx="533345" cy="1894026"/>
          </a:xfrm>
          <a:custGeom>
            <a:avLst/>
            <a:gdLst/>
            <a:ahLst/>
            <a:cxnLst/>
            <a:rect r="r" b="b" t="t" l="l"/>
            <a:pathLst>
              <a:path h="1894026" w="533345">
                <a:moveTo>
                  <a:pt x="0" y="0"/>
                </a:moveTo>
                <a:lnTo>
                  <a:pt x="533345" y="0"/>
                </a:lnTo>
                <a:lnTo>
                  <a:pt x="533345" y="1894026"/>
                </a:lnTo>
                <a:lnTo>
                  <a:pt x="0" y="18940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93159" y="2534295"/>
            <a:ext cx="13532494" cy="4810495"/>
          </a:xfrm>
          <a:custGeom>
            <a:avLst/>
            <a:gdLst/>
            <a:ahLst/>
            <a:cxnLst/>
            <a:rect r="r" b="b" t="t" l="l"/>
            <a:pathLst>
              <a:path h="4810495" w="13532494">
                <a:moveTo>
                  <a:pt x="0" y="0"/>
                </a:moveTo>
                <a:lnTo>
                  <a:pt x="13532494" y="0"/>
                </a:lnTo>
                <a:lnTo>
                  <a:pt x="13532494" y="4810495"/>
                </a:lnTo>
                <a:lnTo>
                  <a:pt x="0" y="48104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18073" y="5237211"/>
            <a:ext cx="2107579" cy="2107579"/>
            <a:chOff x="0" y="0"/>
            <a:chExt cx="2810105" cy="28101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10129" cy="2810129"/>
            </a:xfrm>
            <a:custGeom>
              <a:avLst/>
              <a:gdLst/>
              <a:ahLst/>
              <a:cxnLst/>
              <a:rect r="r" b="b" t="t" l="l"/>
              <a:pathLst>
                <a:path h="2810129" w="2810129">
                  <a:moveTo>
                    <a:pt x="0" y="0"/>
                  </a:moveTo>
                  <a:lnTo>
                    <a:pt x="2810129" y="0"/>
                  </a:lnTo>
                  <a:lnTo>
                    <a:pt x="2810129" y="2810129"/>
                  </a:lnTo>
                  <a:lnTo>
                    <a:pt x="0" y="2810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60507" y="2678956"/>
            <a:ext cx="1927472" cy="1927472"/>
            <a:chOff x="0" y="0"/>
            <a:chExt cx="2569963" cy="25699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9972" cy="2569972"/>
            </a:xfrm>
            <a:custGeom>
              <a:avLst/>
              <a:gdLst/>
              <a:ahLst/>
              <a:cxnLst/>
              <a:rect r="r" b="b" t="t" l="l"/>
              <a:pathLst>
                <a:path h="2569972" w="2569972">
                  <a:moveTo>
                    <a:pt x="0" y="0"/>
                  </a:moveTo>
                  <a:lnTo>
                    <a:pt x="2569972" y="0"/>
                  </a:lnTo>
                  <a:lnTo>
                    <a:pt x="2569972" y="2569972"/>
                  </a:lnTo>
                  <a:lnTo>
                    <a:pt x="0" y="2569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43325" y="3386522"/>
            <a:ext cx="14601350" cy="4578350"/>
            <a:chOff x="0" y="0"/>
            <a:chExt cx="19468467" cy="6104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68467" cy="6104467"/>
            </a:xfrm>
            <a:custGeom>
              <a:avLst/>
              <a:gdLst/>
              <a:ahLst/>
              <a:cxnLst/>
              <a:rect r="r" b="b" t="t" l="l"/>
              <a:pathLst>
                <a:path h="6104467" w="19468467">
                  <a:moveTo>
                    <a:pt x="0" y="0"/>
                  </a:moveTo>
                  <a:lnTo>
                    <a:pt x="19468467" y="0"/>
                  </a:lnTo>
                  <a:lnTo>
                    <a:pt x="19468467" y="6104467"/>
                  </a:lnTo>
                  <a:lnTo>
                    <a:pt x="0" y="6104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33350"/>
              <a:ext cx="19468467" cy="62378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9100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ABSTRACTIVE NEWS SUMMARIZATION USING BART AND MISTRAL</a:t>
              </a:r>
            </a:p>
            <a:p>
              <a:pPr algn="ctr">
                <a:lnSpc>
                  <a:spcPts val="91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11606" y="0"/>
            <a:ext cx="4786387" cy="3188930"/>
            <a:chOff x="0" y="0"/>
            <a:chExt cx="6381849" cy="42519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81877" cy="4251960"/>
            </a:xfrm>
            <a:custGeom>
              <a:avLst/>
              <a:gdLst/>
              <a:ahLst/>
              <a:cxnLst/>
              <a:rect r="r" b="b" t="t" l="l"/>
              <a:pathLst>
                <a:path h="4251960" w="6381877">
                  <a:moveTo>
                    <a:pt x="0" y="0"/>
                  </a:moveTo>
                  <a:lnTo>
                    <a:pt x="6381877" y="0"/>
                  </a:lnTo>
                  <a:lnTo>
                    <a:pt x="6381877" y="4251960"/>
                  </a:lnTo>
                  <a:lnTo>
                    <a:pt x="0" y="4251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31" r="0" b="-3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43325" y="7609948"/>
            <a:ext cx="14601350" cy="2098675"/>
            <a:chOff x="0" y="0"/>
            <a:chExt cx="19468467" cy="27982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68467" cy="2798233"/>
            </a:xfrm>
            <a:custGeom>
              <a:avLst/>
              <a:gdLst/>
              <a:ahLst/>
              <a:cxnLst/>
              <a:rect r="r" b="b" t="t" l="l"/>
              <a:pathLst>
                <a:path h="2798233" w="19468467">
                  <a:moveTo>
                    <a:pt x="0" y="0"/>
                  </a:moveTo>
                  <a:lnTo>
                    <a:pt x="19468467" y="0"/>
                  </a:lnTo>
                  <a:lnTo>
                    <a:pt x="19468467" y="2798233"/>
                  </a:lnTo>
                  <a:lnTo>
                    <a:pt x="0" y="27982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9468467" cy="288395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598"/>
                </a:lnSpc>
              </a:pPr>
              <a:r>
                <a:rPr lang="en-US" sz="3999" b="true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TEAM 1</a:t>
              </a:r>
            </a:p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                      Archana Lakshminarasimman - 2409599</a:t>
              </a:r>
            </a:p>
            <a:p>
              <a:pPr algn="l">
                <a:lnSpc>
                  <a:spcPts val="5598"/>
                </a:lnSpc>
              </a:pPr>
              <a:r>
                <a:rPr lang="en-US" sz="3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                      Sai Tanmai Burela - 2360570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797636" y="8906766"/>
            <a:ext cx="354155" cy="856718"/>
            <a:chOff x="0" y="0"/>
            <a:chExt cx="472207" cy="11422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207" cy="1142291"/>
            </a:xfrm>
            <a:custGeom>
              <a:avLst/>
              <a:gdLst/>
              <a:ahLst/>
              <a:cxnLst/>
              <a:rect r="r" b="b" t="t" l="l"/>
              <a:pathLst>
                <a:path h="1142291" w="472207">
                  <a:moveTo>
                    <a:pt x="0" y="0"/>
                  </a:moveTo>
                  <a:lnTo>
                    <a:pt x="472207" y="0"/>
                  </a:lnTo>
                  <a:lnTo>
                    <a:pt x="472207" y="1142291"/>
                  </a:lnTo>
                  <a:lnTo>
                    <a:pt x="0" y="11422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72207" cy="12089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8014" y="358973"/>
            <a:ext cx="17513282" cy="9827470"/>
          </a:xfrm>
          <a:custGeom>
            <a:avLst/>
            <a:gdLst/>
            <a:ahLst/>
            <a:cxnLst/>
            <a:rect r="r" b="b" t="t" l="l"/>
            <a:pathLst>
              <a:path h="9827470" w="17513282">
                <a:moveTo>
                  <a:pt x="0" y="0"/>
                </a:moveTo>
                <a:lnTo>
                  <a:pt x="17513282" y="0"/>
                </a:lnTo>
                <a:lnTo>
                  <a:pt x="17513282" y="9827470"/>
                </a:lnTo>
                <a:lnTo>
                  <a:pt x="0" y="9827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92859" y="914400"/>
            <a:ext cx="14258284" cy="1028700"/>
            <a:chOff x="0" y="0"/>
            <a:chExt cx="19011045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11046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011046">
                  <a:moveTo>
                    <a:pt x="0" y="0"/>
                  </a:moveTo>
                  <a:lnTo>
                    <a:pt x="19011046" y="0"/>
                  </a:lnTo>
                  <a:lnTo>
                    <a:pt x="19011046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9011045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PROBLEM STATEMENT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05632" y="7194164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1" y="0"/>
                </a:lnTo>
                <a:lnTo>
                  <a:pt x="4880471" y="3589197"/>
                </a:lnTo>
                <a:lnTo>
                  <a:pt x="0" y="358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83188" y="102870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0103" y="3419624"/>
            <a:ext cx="15866510" cy="1723876"/>
          </a:xfrm>
          <a:custGeom>
            <a:avLst/>
            <a:gdLst/>
            <a:ahLst/>
            <a:cxnLst/>
            <a:rect r="r" b="b" t="t" l="l"/>
            <a:pathLst>
              <a:path h="1723876" w="15866510">
                <a:moveTo>
                  <a:pt x="0" y="0"/>
                </a:moveTo>
                <a:lnTo>
                  <a:pt x="15866510" y="0"/>
                </a:lnTo>
                <a:lnTo>
                  <a:pt x="15866510" y="1723876"/>
                </a:lnTo>
                <a:lnTo>
                  <a:pt x="0" y="1723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7389" y="3674494"/>
            <a:ext cx="1418809" cy="1356736"/>
          </a:xfrm>
          <a:custGeom>
            <a:avLst/>
            <a:gdLst/>
            <a:ahLst/>
            <a:cxnLst/>
            <a:rect r="r" b="b" t="t" l="l"/>
            <a:pathLst>
              <a:path h="1356736" w="1418809">
                <a:moveTo>
                  <a:pt x="0" y="0"/>
                </a:moveTo>
                <a:lnTo>
                  <a:pt x="1418809" y="0"/>
                </a:lnTo>
                <a:lnTo>
                  <a:pt x="1418809" y="1356736"/>
                </a:lnTo>
                <a:lnTo>
                  <a:pt x="0" y="135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82" r="0" b="-182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96198" y="3973303"/>
            <a:ext cx="14270415" cy="850900"/>
            <a:chOff x="0" y="0"/>
            <a:chExt cx="19027220" cy="11345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27220" cy="1134533"/>
            </a:xfrm>
            <a:custGeom>
              <a:avLst/>
              <a:gdLst/>
              <a:ahLst/>
              <a:cxnLst/>
              <a:rect r="r" b="b" t="t" l="l"/>
              <a:pathLst>
                <a:path h="1134533" w="19027220">
                  <a:moveTo>
                    <a:pt x="0" y="0"/>
                  </a:moveTo>
                  <a:lnTo>
                    <a:pt x="19027220" y="0"/>
                  </a:lnTo>
                  <a:lnTo>
                    <a:pt x="19027220" y="1134533"/>
                  </a:lnTo>
                  <a:lnTo>
                    <a:pt x="0" y="11345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027220" cy="11726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With the overwhelming volume of daily news articles, readers face difficulty consuming long content quickly.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77389" y="5555650"/>
            <a:ext cx="15689223" cy="1720389"/>
          </a:xfrm>
          <a:custGeom>
            <a:avLst/>
            <a:gdLst/>
            <a:ahLst/>
            <a:cxnLst/>
            <a:rect r="r" b="b" t="t" l="l"/>
            <a:pathLst>
              <a:path h="1720389" w="15689223">
                <a:moveTo>
                  <a:pt x="0" y="0"/>
                </a:moveTo>
                <a:lnTo>
                  <a:pt x="15689223" y="0"/>
                </a:lnTo>
                <a:lnTo>
                  <a:pt x="15689223" y="1720389"/>
                </a:lnTo>
                <a:lnTo>
                  <a:pt x="0" y="17203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2141" y="5855634"/>
            <a:ext cx="1089305" cy="1264796"/>
          </a:xfrm>
          <a:custGeom>
            <a:avLst/>
            <a:gdLst/>
            <a:ahLst/>
            <a:cxnLst/>
            <a:rect r="r" b="b" t="t" l="l"/>
            <a:pathLst>
              <a:path h="1264796" w="1089305">
                <a:moveTo>
                  <a:pt x="0" y="0"/>
                </a:moveTo>
                <a:lnTo>
                  <a:pt x="1089305" y="0"/>
                </a:lnTo>
                <a:lnTo>
                  <a:pt x="1089305" y="1264796"/>
                </a:lnTo>
                <a:lnTo>
                  <a:pt x="0" y="12647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98" t="0" r="-198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925638" y="5864998"/>
            <a:ext cx="14010805" cy="1289050"/>
            <a:chOff x="0" y="0"/>
            <a:chExt cx="18681073" cy="1718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81074" cy="1718733"/>
            </a:xfrm>
            <a:custGeom>
              <a:avLst/>
              <a:gdLst/>
              <a:ahLst/>
              <a:cxnLst/>
              <a:rect r="r" b="b" t="t" l="l"/>
              <a:pathLst>
                <a:path h="1718733" w="18681074">
                  <a:moveTo>
                    <a:pt x="0" y="0"/>
                  </a:moveTo>
                  <a:lnTo>
                    <a:pt x="18681074" y="0"/>
                  </a:lnTo>
                  <a:lnTo>
                    <a:pt x="18681074" y="1718733"/>
                  </a:lnTo>
                  <a:lnTo>
                    <a:pt x="0" y="17187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681073" cy="17568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Our project addresses this challenge by building abstractive summarization models using BART and Mistral to generate concise, meaningful summaries that preserve the core message.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31940" y="9191625"/>
            <a:ext cx="380774" cy="890262"/>
            <a:chOff x="0" y="0"/>
            <a:chExt cx="507699" cy="11870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7699" cy="1187016"/>
            </a:xfrm>
            <a:custGeom>
              <a:avLst/>
              <a:gdLst/>
              <a:ahLst/>
              <a:cxnLst/>
              <a:rect r="r" b="b" t="t" l="l"/>
              <a:pathLst>
                <a:path h="1187016" w="507699">
                  <a:moveTo>
                    <a:pt x="0" y="0"/>
                  </a:moveTo>
                  <a:lnTo>
                    <a:pt x="507699" y="0"/>
                  </a:lnTo>
                  <a:lnTo>
                    <a:pt x="507699" y="1187016"/>
                  </a:lnTo>
                  <a:lnTo>
                    <a:pt x="0" y="1187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07699" cy="125369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881" y="175289"/>
            <a:ext cx="17506144" cy="9896181"/>
          </a:xfrm>
          <a:custGeom>
            <a:avLst/>
            <a:gdLst/>
            <a:ahLst/>
            <a:cxnLst/>
            <a:rect r="r" b="b" t="t" l="l"/>
            <a:pathLst>
              <a:path h="9896181" w="17506144">
                <a:moveTo>
                  <a:pt x="0" y="0"/>
                </a:moveTo>
                <a:lnTo>
                  <a:pt x="17506144" y="0"/>
                </a:lnTo>
                <a:lnTo>
                  <a:pt x="17506144" y="9896181"/>
                </a:lnTo>
                <a:lnTo>
                  <a:pt x="0" y="9896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153" y="591135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821" y="102870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21813" y="2191046"/>
            <a:ext cx="12844374" cy="6711185"/>
            <a:chOff x="0" y="0"/>
            <a:chExt cx="17125832" cy="89482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125823" cy="8948293"/>
            </a:xfrm>
            <a:custGeom>
              <a:avLst/>
              <a:gdLst/>
              <a:ahLst/>
              <a:cxnLst/>
              <a:rect r="r" b="b" t="t" l="l"/>
              <a:pathLst>
                <a:path h="8948293" w="17125823">
                  <a:moveTo>
                    <a:pt x="0" y="0"/>
                  </a:moveTo>
                  <a:lnTo>
                    <a:pt x="17125823" y="0"/>
                  </a:lnTo>
                  <a:lnTo>
                    <a:pt x="17125823" y="8948293"/>
                  </a:lnTo>
                  <a:lnTo>
                    <a:pt x="0" y="8948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54" t="0" r="-5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21813" y="914400"/>
            <a:ext cx="12844374" cy="1028700"/>
            <a:chOff x="0" y="0"/>
            <a:chExt cx="17125832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25832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125832">
                  <a:moveTo>
                    <a:pt x="0" y="0"/>
                  </a:moveTo>
                  <a:lnTo>
                    <a:pt x="17125832" y="0"/>
                  </a:lnTo>
                  <a:lnTo>
                    <a:pt x="17125832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7125832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WHY ABSTRACTIVE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29138" y="9277235"/>
            <a:ext cx="372191" cy="828602"/>
            <a:chOff x="0" y="0"/>
            <a:chExt cx="496255" cy="11048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255" cy="1104803"/>
            </a:xfrm>
            <a:custGeom>
              <a:avLst/>
              <a:gdLst/>
              <a:ahLst/>
              <a:cxnLst/>
              <a:rect r="r" b="b" t="t" l="l"/>
              <a:pathLst>
                <a:path h="1104803" w="496255">
                  <a:moveTo>
                    <a:pt x="0" y="0"/>
                  </a:moveTo>
                  <a:lnTo>
                    <a:pt x="496255" y="0"/>
                  </a:lnTo>
                  <a:lnTo>
                    <a:pt x="496255" y="1104803"/>
                  </a:lnTo>
                  <a:lnTo>
                    <a:pt x="0" y="11048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96255" cy="11714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853" y="273015"/>
            <a:ext cx="17770410" cy="9740970"/>
          </a:xfrm>
          <a:custGeom>
            <a:avLst/>
            <a:gdLst/>
            <a:ahLst/>
            <a:cxnLst/>
            <a:rect r="r" b="b" t="t" l="l"/>
            <a:pathLst>
              <a:path h="9740970" w="17770410">
                <a:moveTo>
                  <a:pt x="0" y="0"/>
                </a:moveTo>
                <a:lnTo>
                  <a:pt x="17770410" y="0"/>
                </a:lnTo>
                <a:lnTo>
                  <a:pt x="17770410" y="9740970"/>
                </a:lnTo>
                <a:lnTo>
                  <a:pt x="0" y="974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6328" y="665059"/>
            <a:ext cx="15722271" cy="1028700"/>
            <a:chOff x="0" y="0"/>
            <a:chExt cx="20963028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63027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963027">
                  <a:moveTo>
                    <a:pt x="0" y="0"/>
                  </a:moveTo>
                  <a:lnTo>
                    <a:pt x="20963027" y="0"/>
                  </a:lnTo>
                  <a:lnTo>
                    <a:pt x="20963027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963028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BART VS MISTRAL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32203" y="591135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2363" y="1127458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45659" y="2183540"/>
          <a:ext cx="10109200" cy="7315200"/>
        </p:xfrm>
        <a:graphic>
          <a:graphicData uri="http://schemas.openxmlformats.org/drawingml/2006/table">
            <a:tbl>
              <a:tblPr/>
              <a:tblGrid>
                <a:gridCol w="5093071"/>
                <a:gridCol w="5016129"/>
              </a:tblGrid>
              <a:tr h="1302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Mistral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44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Encoder-Decoder model (Seq2Seq)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Decoder-only (GPT-style)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44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Full Self-attention across Encoder &amp; Decoder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Sliding window, local attention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Bidirectional in encoder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Unidirectional in Decoder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2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400 million parameters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7 billion parameters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1090071" y="4768060"/>
            <a:ext cx="6169229" cy="2457893"/>
            <a:chOff x="0" y="0"/>
            <a:chExt cx="8225639" cy="32771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5663" cy="3277235"/>
            </a:xfrm>
            <a:custGeom>
              <a:avLst/>
              <a:gdLst/>
              <a:ahLst/>
              <a:cxnLst/>
              <a:rect r="r" b="b" t="t" l="l"/>
              <a:pathLst>
                <a:path h="3277235" w="8225663">
                  <a:moveTo>
                    <a:pt x="0" y="0"/>
                  </a:moveTo>
                  <a:lnTo>
                    <a:pt x="8225663" y="0"/>
                  </a:lnTo>
                  <a:lnTo>
                    <a:pt x="8225663" y="3277235"/>
                  </a:lnTo>
                  <a:lnTo>
                    <a:pt x="0" y="3277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683" r="0" b="-168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559027" y="9219749"/>
            <a:ext cx="270009" cy="596668"/>
            <a:chOff x="0" y="0"/>
            <a:chExt cx="360012" cy="7955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0012" cy="795557"/>
            </a:xfrm>
            <a:custGeom>
              <a:avLst/>
              <a:gdLst/>
              <a:ahLst/>
              <a:cxnLst/>
              <a:rect r="r" b="b" t="t" l="l"/>
              <a:pathLst>
                <a:path h="795557" w="360012">
                  <a:moveTo>
                    <a:pt x="0" y="0"/>
                  </a:moveTo>
                  <a:lnTo>
                    <a:pt x="360012" y="0"/>
                  </a:lnTo>
                  <a:lnTo>
                    <a:pt x="360012" y="795557"/>
                  </a:lnTo>
                  <a:lnTo>
                    <a:pt x="0" y="7955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360012" cy="86223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44" y="154546"/>
            <a:ext cx="17782042" cy="9993573"/>
          </a:xfrm>
          <a:custGeom>
            <a:avLst/>
            <a:gdLst/>
            <a:ahLst/>
            <a:cxnLst/>
            <a:rect r="r" b="b" t="t" l="l"/>
            <a:pathLst>
              <a:path h="9993573" w="17782042">
                <a:moveTo>
                  <a:pt x="0" y="0"/>
                </a:moveTo>
                <a:lnTo>
                  <a:pt x="17782042" y="0"/>
                </a:lnTo>
                <a:lnTo>
                  <a:pt x="17782042" y="9993573"/>
                </a:lnTo>
                <a:lnTo>
                  <a:pt x="0" y="999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8935" y="639326"/>
            <a:ext cx="16182661" cy="1028700"/>
            <a:chOff x="0" y="0"/>
            <a:chExt cx="21576881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76881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576881">
                  <a:moveTo>
                    <a:pt x="0" y="0"/>
                  </a:moveTo>
                  <a:lnTo>
                    <a:pt x="21576881" y="0"/>
                  </a:lnTo>
                  <a:lnTo>
                    <a:pt x="21576881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1576881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PROJECT ARCHITECTURE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15157" y="7213214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1" y="0"/>
                </a:lnTo>
                <a:lnTo>
                  <a:pt x="4880471" y="3589197"/>
                </a:lnTo>
                <a:lnTo>
                  <a:pt x="0" y="358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41233" y="84657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8609" y="3408591"/>
            <a:ext cx="16223153" cy="4571897"/>
            <a:chOff x="0" y="0"/>
            <a:chExt cx="21630871" cy="6095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630894" cy="6095873"/>
            </a:xfrm>
            <a:custGeom>
              <a:avLst/>
              <a:gdLst/>
              <a:ahLst/>
              <a:cxnLst/>
              <a:rect r="r" b="b" t="t" l="l"/>
              <a:pathLst>
                <a:path h="6095873" w="21630894">
                  <a:moveTo>
                    <a:pt x="0" y="0"/>
                  </a:moveTo>
                  <a:lnTo>
                    <a:pt x="21630894" y="0"/>
                  </a:lnTo>
                  <a:lnTo>
                    <a:pt x="21630894" y="6095873"/>
                  </a:lnTo>
                  <a:lnTo>
                    <a:pt x="0" y="609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485" r="0" b="-44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30461" y="9494982"/>
            <a:ext cx="228101" cy="525064"/>
            <a:chOff x="0" y="0"/>
            <a:chExt cx="304135" cy="70008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135" cy="700085"/>
            </a:xfrm>
            <a:custGeom>
              <a:avLst/>
              <a:gdLst/>
              <a:ahLst/>
              <a:cxnLst/>
              <a:rect r="r" b="b" t="t" l="l"/>
              <a:pathLst>
                <a:path h="700085" w="304135">
                  <a:moveTo>
                    <a:pt x="0" y="0"/>
                  </a:moveTo>
                  <a:lnTo>
                    <a:pt x="304135" y="0"/>
                  </a:lnTo>
                  <a:lnTo>
                    <a:pt x="304135" y="700085"/>
                  </a:lnTo>
                  <a:lnTo>
                    <a:pt x="0" y="700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04135" cy="76676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205" y="215529"/>
            <a:ext cx="17895270" cy="9875104"/>
          </a:xfrm>
          <a:custGeom>
            <a:avLst/>
            <a:gdLst/>
            <a:ahLst/>
            <a:cxnLst/>
            <a:rect r="r" b="b" t="t" l="l"/>
            <a:pathLst>
              <a:path h="9875104" w="17895270">
                <a:moveTo>
                  <a:pt x="0" y="0"/>
                </a:moveTo>
                <a:lnTo>
                  <a:pt x="17895270" y="0"/>
                </a:lnTo>
                <a:lnTo>
                  <a:pt x="17895270" y="9875104"/>
                </a:lnTo>
                <a:lnTo>
                  <a:pt x="0" y="9875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153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6992" y="102870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277978" y="2945021"/>
          <a:ext cx="10820400" cy="6172200"/>
        </p:xfrm>
        <a:graphic>
          <a:graphicData uri="http://schemas.openxmlformats.org/drawingml/2006/table">
            <a:tbl>
              <a:tblPr/>
              <a:tblGrid>
                <a:gridCol w="4982980"/>
                <a:gridCol w="5837420"/>
              </a:tblGrid>
              <a:tr h="967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Total Records Present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300K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9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Total Records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3000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Data Splits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Training: 80%, Testing: 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Fields Present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Article, Highlights,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Article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Full News 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22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Highlights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Human-written Abstractive Story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2164995" y="639326"/>
            <a:ext cx="13919687" cy="1028700"/>
            <a:chOff x="0" y="0"/>
            <a:chExt cx="18559583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5958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559583">
                  <a:moveTo>
                    <a:pt x="0" y="0"/>
                  </a:moveTo>
                  <a:lnTo>
                    <a:pt x="18559583" y="0"/>
                  </a:lnTo>
                  <a:lnTo>
                    <a:pt x="18559583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8559583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DATASET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8459" y="2014963"/>
            <a:ext cx="16230600" cy="421824"/>
            <a:chOff x="0" y="0"/>
            <a:chExt cx="21640800" cy="562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40800" cy="562432"/>
            </a:xfrm>
            <a:custGeom>
              <a:avLst/>
              <a:gdLst/>
              <a:ahLst/>
              <a:cxnLst/>
              <a:rect r="r" b="b" t="t" l="l"/>
              <a:pathLst>
                <a:path h="562432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562432"/>
                  </a:lnTo>
                  <a:lnTo>
                    <a:pt x="0" y="562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640800" cy="610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23"/>
                </a:lnSpc>
              </a:pPr>
              <a:r>
                <a:rPr lang="en-US" sz="2517" b="true">
                  <a:solidFill>
                    <a:srgbClr val="00000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Source: News articles and corresponding summaries from CNN and Daily Mail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595179" y="9296397"/>
            <a:ext cx="152400" cy="219075"/>
            <a:chOff x="0" y="0"/>
            <a:chExt cx="203200" cy="292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80" y="216394"/>
            <a:ext cx="17836482" cy="9835915"/>
          </a:xfrm>
          <a:custGeom>
            <a:avLst/>
            <a:gdLst/>
            <a:ahLst/>
            <a:cxnLst/>
            <a:rect r="r" b="b" t="t" l="l"/>
            <a:pathLst>
              <a:path h="9835915" w="17836482">
                <a:moveTo>
                  <a:pt x="0" y="0"/>
                </a:moveTo>
                <a:lnTo>
                  <a:pt x="17836482" y="0"/>
                </a:lnTo>
                <a:lnTo>
                  <a:pt x="17836482" y="9835915"/>
                </a:lnTo>
                <a:lnTo>
                  <a:pt x="0" y="9835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13153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6253" y="102870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84157" y="914400"/>
            <a:ext cx="13919687" cy="1028700"/>
            <a:chOff x="0" y="0"/>
            <a:chExt cx="18559583" cy="137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55958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559583">
                  <a:moveTo>
                    <a:pt x="0" y="0"/>
                  </a:moveTo>
                  <a:lnTo>
                    <a:pt x="18559583" y="0"/>
                  </a:lnTo>
                  <a:lnTo>
                    <a:pt x="18559583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8559583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DATA PREPROCESSING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707586" y="9258073"/>
            <a:ext cx="152400" cy="219075"/>
            <a:chOff x="0" y="0"/>
            <a:chExt cx="2032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708" y="3058014"/>
            <a:ext cx="15233236" cy="4355122"/>
            <a:chOff x="0" y="0"/>
            <a:chExt cx="20310981" cy="58068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10982" cy="5806829"/>
            </a:xfrm>
            <a:custGeom>
              <a:avLst/>
              <a:gdLst/>
              <a:ahLst/>
              <a:cxnLst/>
              <a:rect r="r" b="b" t="t" l="l"/>
              <a:pathLst>
                <a:path h="5806829" w="20310982">
                  <a:moveTo>
                    <a:pt x="0" y="0"/>
                  </a:moveTo>
                  <a:lnTo>
                    <a:pt x="20310982" y="0"/>
                  </a:lnTo>
                  <a:lnTo>
                    <a:pt x="20310982" y="5806829"/>
                  </a:lnTo>
                  <a:lnTo>
                    <a:pt x="0" y="580682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04800"/>
              <a:ext cx="20310981" cy="61116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40919" indent="-246973" lvl="2">
                <a:lnSpc>
                  <a:spcPts val="7098"/>
                </a:lnSpc>
                <a:buFont typeface="Arial"/>
                <a:buChar char="⚬"/>
              </a:pPr>
              <a:r>
                <a:rPr lang="en-US" b="true" sz="32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Feature selection</a:t>
              </a:r>
            </a:p>
            <a:p>
              <a:pPr algn="l" marL="740919" indent="-246973" lvl="2">
                <a:lnSpc>
                  <a:spcPts val="7098"/>
                </a:lnSpc>
                <a:buFont typeface="Arial"/>
                <a:buChar char="⚬"/>
              </a:pPr>
              <a:r>
                <a:rPr lang="en-US" b="true" sz="32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Normalization using unicodedata.normalize</a:t>
              </a:r>
            </a:p>
            <a:p>
              <a:pPr algn="l" marL="740919" indent="-246973" lvl="2">
                <a:lnSpc>
                  <a:spcPts val="7098"/>
                </a:lnSpc>
                <a:buFont typeface="Arial"/>
                <a:buChar char="⚬"/>
              </a:pPr>
              <a:r>
                <a:rPr lang="en-US" b="true" sz="32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Removed HTML tags using regex.</a:t>
              </a:r>
            </a:p>
            <a:p>
              <a:pPr algn="l" marL="740919" indent="-246973" lvl="2">
                <a:lnSpc>
                  <a:spcPts val="7098"/>
                </a:lnSpc>
                <a:buFont typeface="Arial"/>
                <a:buChar char="⚬"/>
              </a:pPr>
              <a:r>
                <a:rPr lang="en-US" b="true" sz="32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Trimmed unnecessary whitespaces and punctuation.</a:t>
              </a:r>
            </a:p>
            <a:p>
              <a:pPr algn="l" marL="740919" indent="-246973" lvl="2">
                <a:lnSpc>
                  <a:spcPts val="7098"/>
                </a:lnSpc>
                <a:buFont typeface="Arial"/>
                <a:buChar char="⚬"/>
              </a:pPr>
              <a:r>
                <a:rPr lang="en-US" b="true" sz="324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Converted cleaned pandas DataFrame to Hugging Face Dataset.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205" y="119719"/>
            <a:ext cx="17569512" cy="9818675"/>
          </a:xfrm>
          <a:custGeom>
            <a:avLst/>
            <a:gdLst/>
            <a:ahLst/>
            <a:cxnLst/>
            <a:rect r="r" b="b" t="t" l="l"/>
            <a:pathLst>
              <a:path h="9818675" w="17569512">
                <a:moveTo>
                  <a:pt x="0" y="0"/>
                </a:moveTo>
                <a:lnTo>
                  <a:pt x="17569512" y="0"/>
                </a:lnTo>
                <a:lnTo>
                  <a:pt x="17569512" y="9818675"/>
                </a:lnTo>
                <a:lnTo>
                  <a:pt x="0" y="981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5157" y="7216399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1" y="0"/>
                </a:lnTo>
                <a:lnTo>
                  <a:pt x="4880471" y="3589197"/>
                </a:lnTo>
                <a:lnTo>
                  <a:pt x="0" y="358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7821" y="795586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441504" y="1887237"/>
            <a:ext cx="11067862" cy="7164698"/>
            <a:chOff x="0" y="0"/>
            <a:chExt cx="14757149" cy="95529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57146" cy="9552940"/>
            </a:xfrm>
            <a:custGeom>
              <a:avLst/>
              <a:gdLst/>
              <a:ahLst/>
              <a:cxnLst/>
              <a:rect r="r" b="b" t="t" l="l"/>
              <a:pathLst>
                <a:path h="9552940" w="14757146">
                  <a:moveTo>
                    <a:pt x="0" y="0"/>
                  </a:moveTo>
                  <a:lnTo>
                    <a:pt x="14757146" y="0"/>
                  </a:lnTo>
                  <a:lnTo>
                    <a:pt x="14757146" y="9552940"/>
                  </a:lnTo>
                  <a:lnTo>
                    <a:pt x="0" y="9552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48" t="0" r="-114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331591" y="681286"/>
            <a:ext cx="7624818" cy="1028700"/>
            <a:chOff x="0" y="0"/>
            <a:chExt cx="10166424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64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166424">
                  <a:moveTo>
                    <a:pt x="0" y="0"/>
                  </a:moveTo>
                  <a:lnTo>
                    <a:pt x="10166424" y="0"/>
                  </a:lnTo>
                  <a:lnTo>
                    <a:pt x="1016642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0166424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EDA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65891" y="9417525"/>
            <a:ext cx="152400" cy="219075"/>
            <a:chOff x="0" y="0"/>
            <a:chExt cx="203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205" y="119719"/>
            <a:ext cx="17569512" cy="9818675"/>
          </a:xfrm>
          <a:custGeom>
            <a:avLst/>
            <a:gdLst/>
            <a:ahLst/>
            <a:cxnLst/>
            <a:rect r="r" b="b" t="t" l="l"/>
            <a:pathLst>
              <a:path h="9818675" w="17569512">
                <a:moveTo>
                  <a:pt x="0" y="0"/>
                </a:moveTo>
                <a:lnTo>
                  <a:pt x="17569512" y="0"/>
                </a:lnTo>
                <a:lnTo>
                  <a:pt x="17569512" y="9818675"/>
                </a:lnTo>
                <a:lnTo>
                  <a:pt x="0" y="981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5157" y="7216399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1" y="0"/>
                </a:lnTo>
                <a:lnTo>
                  <a:pt x="4880471" y="3589197"/>
                </a:lnTo>
                <a:lnTo>
                  <a:pt x="0" y="358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7821" y="795586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2910" y="1309871"/>
            <a:ext cx="15601136" cy="7742064"/>
            <a:chOff x="0" y="0"/>
            <a:chExt cx="20801515" cy="1032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01457" cy="10322814"/>
            </a:xfrm>
            <a:custGeom>
              <a:avLst/>
              <a:gdLst/>
              <a:ahLst/>
              <a:cxnLst/>
              <a:rect r="r" b="b" t="t" l="l"/>
              <a:pathLst>
                <a:path h="10322814" w="20801457">
                  <a:moveTo>
                    <a:pt x="0" y="0"/>
                  </a:moveTo>
                  <a:lnTo>
                    <a:pt x="20801457" y="0"/>
                  </a:lnTo>
                  <a:lnTo>
                    <a:pt x="20801457" y="10322814"/>
                  </a:lnTo>
                  <a:lnTo>
                    <a:pt x="0" y="10322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" t="0" r="-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683458" y="9417525"/>
            <a:ext cx="152400" cy="219075"/>
            <a:chOff x="0" y="0"/>
            <a:chExt cx="203200" cy="292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205" y="168768"/>
            <a:ext cx="17638084" cy="9808815"/>
          </a:xfrm>
          <a:custGeom>
            <a:avLst/>
            <a:gdLst/>
            <a:ahLst/>
            <a:cxnLst/>
            <a:rect r="r" b="b" t="t" l="l"/>
            <a:pathLst>
              <a:path h="9808815" w="17638084">
                <a:moveTo>
                  <a:pt x="0" y="0"/>
                </a:moveTo>
                <a:lnTo>
                  <a:pt x="17638084" y="0"/>
                </a:lnTo>
                <a:lnTo>
                  <a:pt x="17638084" y="9808815"/>
                </a:lnTo>
                <a:lnTo>
                  <a:pt x="0" y="980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5157" y="7216399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1" y="0"/>
                </a:lnTo>
                <a:lnTo>
                  <a:pt x="4880471" y="3589197"/>
                </a:lnTo>
                <a:lnTo>
                  <a:pt x="0" y="3589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31230" y="84657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2268" y="2336883"/>
            <a:ext cx="8293569" cy="4613298"/>
            <a:chOff x="0" y="0"/>
            <a:chExt cx="11058092" cy="6151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58144" cy="6151118"/>
            </a:xfrm>
            <a:custGeom>
              <a:avLst/>
              <a:gdLst/>
              <a:ahLst/>
              <a:cxnLst/>
              <a:rect r="r" b="b" t="t" l="l"/>
              <a:pathLst>
                <a:path h="6151118" w="11058144">
                  <a:moveTo>
                    <a:pt x="0" y="0"/>
                  </a:moveTo>
                  <a:lnTo>
                    <a:pt x="11058144" y="0"/>
                  </a:lnTo>
                  <a:lnTo>
                    <a:pt x="11058144" y="6151118"/>
                  </a:lnTo>
                  <a:lnTo>
                    <a:pt x="0" y="6151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" r="0" b="-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25837" y="2484568"/>
            <a:ext cx="8233463" cy="4448576"/>
            <a:chOff x="0" y="0"/>
            <a:chExt cx="10977951" cy="59314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8007" cy="5931408"/>
            </a:xfrm>
            <a:custGeom>
              <a:avLst/>
              <a:gdLst/>
              <a:ahLst/>
              <a:cxnLst/>
              <a:rect r="r" b="b" t="t" l="l"/>
              <a:pathLst>
                <a:path h="5931408" w="10978007">
                  <a:moveTo>
                    <a:pt x="0" y="0"/>
                  </a:moveTo>
                  <a:lnTo>
                    <a:pt x="10978007" y="0"/>
                  </a:lnTo>
                  <a:lnTo>
                    <a:pt x="10978007" y="5931408"/>
                  </a:lnTo>
                  <a:lnTo>
                    <a:pt x="0" y="5931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47" t="0" r="-4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96256" y="732274"/>
            <a:ext cx="7624818" cy="1028700"/>
            <a:chOff x="0" y="0"/>
            <a:chExt cx="10166424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6424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166424">
                  <a:moveTo>
                    <a:pt x="0" y="0"/>
                  </a:moveTo>
                  <a:lnTo>
                    <a:pt x="10166424" y="0"/>
                  </a:lnTo>
                  <a:lnTo>
                    <a:pt x="10166424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10166424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WORD CLOUD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634464" y="9456714"/>
            <a:ext cx="152400" cy="219075"/>
            <a:chOff x="0" y="0"/>
            <a:chExt cx="203200" cy="292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009" y="144317"/>
            <a:ext cx="17647066" cy="9827885"/>
          </a:xfrm>
          <a:custGeom>
            <a:avLst/>
            <a:gdLst/>
            <a:ahLst/>
            <a:cxnLst/>
            <a:rect r="r" b="b" t="t" l="l"/>
            <a:pathLst>
              <a:path h="9827885" w="17647066">
                <a:moveTo>
                  <a:pt x="0" y="0"/>
                </a:moveTo>
                <a:lnTo>
                  <a:pt x="17647066" y="0"/>
                </a:lnTo>
                <a:lnTo>
                  <a:pt x="17647066" y="9827885"/>
                </a:lnTo>
                <a:lnTo>
                  <a:pt x="0" y="9827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2504" y="7270700"/>
            <a:ext cx="4880471" cy="3589197"/>
          </a:xfrm>
          <a:custGeom>
            <a:avLst/>
            <a:gdLst/>
            <a:ahLst/>
            <a:cxnLst/>
            <a:rect r="r" b="b" t="t" l="l"/>
            <a:pathLst>
              <a:path h="3589197" w="4880471">
                <a:moveTo>
                  <a:pt x="0" y="0"/>
                </a:moveTo>
                <a:lnTo>
                  <a:pt x="4880472" y="0"/>
                </a:lnTo>
                <a:lnTo>
                  <a:pt x="4880472" y="3589198"/>
                </a:lnTo>
                <a:lnTo>
                  <a:pt x="0" y="358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0225" y="92759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75329" y="2775815"/>
            <a:ext cx="16583971" cy="3483684"/>
            <a:chOff x="0" y="0"/>
            <a:chExt cx="22111961" cy="4644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1970" cy="4644898"/>
            </a:xfrm>
            <a:custGeom>
              <a:avLst/>
              <a:gdLst/>
              <a:ahLst/>
              <a:cxnLst/>
              <a:rect r="r" b="b" t="t" l="l"/>
              <a:pathLst>
                <a:path h="4644898" w="22111970">
                  <a:moveTo>
                    <a:pt x="0" y="0"/>
                  </a:moveTo>
                  <a:lnTo>
                    <a:pt x="22111970" y="0"/>
                  </a:lnTo>
                  <a:lnTo>
                    <a:pt x="22111970" y="4644898"/>
                  </a:lnTo>
                  <a:lnTo>
                    <a:pt x="0" y="464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033" t="0" r="-303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57695" y="813290"/>
            <a:ext cx="13372609" cy="1028700"/>
            <a:chOff x="0" y="0"/>
            <a:chExt cx="17830145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830146" cy="1371600"/>
            </a:xfrm>
            <a:custGeom>
              <a:avLst/>
              <a:gdLst/>
              <a:ahLst/>
              <a:cxnLst/>
              <a:rect r="r" b="b" t="t" l="l"/>
              <a:pathLst>
                <a:path h="1371600" w="17830146">
                  <a:moveTo>
                    <a:pt x="0" y="0"/>
                  </a:moveTo>
                  <a:lnTo>
                    <a:pt x="17830146" y="0"/>
                  </a:lnTo>
                  <a:lnTo>
                    <a:pt x="17830146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7830145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BART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651249" y="9451333"/>
            <a:ext cx="152400" cy="219075"/>
            <a:chOff x="0" y="0"/>
            <a:chExt cx="203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33037" y="6525502"/>
            <a:ext cx="8115300" cy="2838340"/>
            <a:chOff x="0" y="0"/>
            <a:chExt cx="10820400" cy="37844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20400" cy="3784453"/>
            </a:xfrm>
            <a:custGeom>
              <a:avLst/>
              <a:gdLst/>
              <a:ahLst/>
              <a:cxnLst/>
              <a:rect r="r" b="b" t="t" l="l"/>
              <a:pathLst>
                <a:path h="3784453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3784453"/>
                  </a:lnTo>
                  <a:lnTo>
                    <a:pt x="0" y="37844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820400" cy="38416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21"/>
                </a:lnSpc>
              </a:pPr>
              <a:r>
                <a:rPr lang="en-US" sz="272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                          facebook/bart-large-cnn</a:t>
              </a:r>
            </a:p>
            <a:p>
              <a:pPr algn="l">
                <a:lnSpc>
                  <a:spcPts val="3821"/>
                </a:lnSpc>
              </a:pPr>
              <a:r>
                <a:rPr lang="en-US" sz="272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Context window       1024</a:t>
              </a:r>
            </a:p>
            <a:p>
              <a:pPr algn="l">
                <a:lnSpc>
                  <a:spcPts val="3821"/>
                </a:lnSpc>
              </a:pPr>
              <a:r>
                <a:rPr lang="en-US" sz="272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Max Length                 150</a:t>
              </a:r>
            </a:p>
            <a:p>
              <a:pPr algn="l">
                <a:lnSpc>
                  <a:spcPts val="3821"/>
                </a:lnSpc>
              </a:pPr>
              <a:r>
                <a:rPr lang="en-US" sz="272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Early Stopping          True</a:t>
              </a:r>
            </a:p>
            <a:p>
              <a:pPr algn="l">
                <a:lnSpc>
                  <a:spcPts val="3821"/>
                </a:lnSpc>
              </a:pPr>
              <a:r>
                <a:rPr lang="en-US" sz="272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Num of Beams           4</a:t>
              </a:r>
            </a:p>
            <a:p>
              <a:pPr algn="l">
                <a:lnSpc>
                  <a:spcPts val="3821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529" y="176773"/>
            <a:ext cx="17792834" cy="9913860"/>
          </a:xfrm>
          <a:custGeom>
            <a:avLst/>
            <a:gdLst/>
            <a:ahLst/>
            <a:cxnLst/>
            <a:rect r="r" b="b" t="t" l="l"/>
            <a:pathLst>
              <a:path h="9913860" w="17792834">
                <a:moveTo>
                  <a:pt x="0" y="0"/>
                </a:moveTo>
                <a:lnTo>
                  <a:pt x="17792834" y="0"/>
                </a:lnTo>
                <a:lnTo>
                  <a:pt x="17792834" y="9913860"/>
                </a:lnTo>
                <a:lnTo>
                  <a:pt x="0" y="9913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497" y="1028700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804666"/>
            <a:ext cx="16230600" cy="3772227"/>
            <a:chOff x="0" y="0"/>
            <a:chExt cx="21640800" cy="50296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0800" cy="5029581"/>
            </a:xfrm>
            <a:custGeom>
              <a:avLst/>
              <a:gdLst/>
              <a:ahLst/>
              <a:cxnLst/>
              <a:rect r="r" b="b" t="t" l="l"/>
              <a:pathLst>
                <a:path h="5029581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5029581"/>
                  </a:lnTo>
                  <a:lnTo>
                    <a:pt x="0" y="5029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33" t="0" r="-633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33750" y="914400"/>
            <a:ext cx="11620500" cy="1028700"/>
            <a:chOff x="0" y="0"/>
            <a:chExt cx="154940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9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494000">
                  <a:moveTo>
                    <a:pt x="0" y="0"/>
                  </a:moveTo>
                  <a:lnTo>
                    <a:pt x="15494000" y="0"/>
                  </a:lnTo>
                  <a:lnTo>
                    <a:pt x="1549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5494000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FINE-TUNING BART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31940" y="9296397"/>
            <a:ext cx="152400" cy="219075"/>
            <a:chOff x="0" y="0"/>
            <a:chExt cx="203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5986" y="244523"/>
            <a:ext cx="17528481" cy="9684463"/>
          </a:xfrm>
          <a:custGeom>
            <a:avLst/>
            <a:gdLst/>
            <a:ahLst/>
            <a:cxnLst/>
            <a:rect r="r" b="b" t="t" l="l"/>
            <a:pathLst>
              <a:path h="9684463" w="17528481">
                <a:moveTo>
                  <a:pt x="0" y="0"/>
                </a:moveTo>
                <a:lnTo>
                  <a:pt x="17528481" y="0"/>
                </a:lnTo>
                <a:lnTo>
                  <a:pt x="17528481" y="9684463"/>
                </a:lnTo>
                <a:lnTo>
                  <a:pt x="0" y="9684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33750" y="698862"/>
            <a:ext cx="11620500" cy="1028700"/>
            <a:chOff x="0" y="0"/>
            <a:chExt cx="15494000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9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494000">
                  <a:moveTo>
                    <a:pt x="0" y="0"/>
                  </a:moveTo>
                  <a:lnTo>
                    <a:pt x="15494000" y="0"/>
                  </a:lnTo>
                  <a:lnTo>
                    <a:pt x="154940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5494000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PARAMETERS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3701" y="237003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699779" y="2085393"/>
          <a:ext cx="6705600" cy="70866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</a:tblGrid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Task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Seq2Seq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Alpha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Dropout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34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Eval 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Epoch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Epochs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Learning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1E-4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90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Optimizer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7416055" y="9408117"/>
            <a:ext cx="152400" cy="219075"/>
            <a:chOff x="0" y="0"/>
            <a:chExt cx="203200" cy="292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13656" y="4889562"/>
            <a:ext cx="8181794" cy="1516943"/>
            <a:chOff x="0" y="0"/>
            <a:chExt cx="10909059" cy="20225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09059" cy="2022591"/>
            </a:xfrm>
            <a:custGeom>
              <a:avLst/>
              <a:gdLst/>
              <a:ahLst/>
              <a:cxnLst/>
              <a:rect r="r" b="b" t="t" l="l"/>
              <a:pathLst>
                <a:path h="2022591" w="10909059">
                  <a:moveTo>
                    <a:pt x="0" y="0"/>
                  </a:moveTo>
                  <a:lnTo>
                    <a:pt x="10909059" y="0"/>
                  </a:lnTo>
                  <a:lnTo>
                    <a:pt x="10909059" y="2022591"/>
                  </a:lnTo>
                  <a:lnTo>
                    <a:pt x="0" y="20225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09059" cy="20702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Params: 407,470,080 </a:t>
              </a:r>
            </a:p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Trainable Params: 1,179,648 </a:t>
              </a:r>
            </a:p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Percentage: 0.28%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2741" y="423599"/>
            <a:ext cx="17225798" cy="9289849"/>
          </a:xfrm>
          <a:custGeom>
            <a:avLst/>
            <a:gdLst/>
            <a:ahLst/>
            <a:cxnLst/>
            <a:rect r="r" b="b" t="t" l="l"/>
            <a:pathLst>
              <a:path h="9289849" w="17225798">
                <a:moveTo>
                  <a:pt x="0" y="0"/>
                </a:moveTo>
                <a:lnTo>
                  <a:pt x="17225798" y="0"/>
                </a:lnTo>
                <a:lnTo>
                  <a:pt x="17225798" y="9289849"/>
                </a:lnTo>
                <a:lnTo>
                  <a:pt x="0" y="928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33701" y="237003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236162"/>
            <a:ext cx="16230600" cy="2766329"/>
            <a:chOff x="0" y="0"/>
            <a:chExt cx="21640800" cy="36884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0800" cy="3688461"/>
            </a:xfrm>
            <a:custGeom>
              <a:avLst/>
              <a:gdLst/>
              <a:ahLst/>
              <a:cxnLst/>
              <a:rect r="r" b="b" t="t" l="l"/>
              <a:pathLst>
                <a:path h="3688461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3688461"/>
                  </a:lnTo>
                  <a:lnTo>
                    <a:pt x="0" y="368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7572" r="0" b="-757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32182" y="1188934"/>
            <a:ext cx="15326032" cy="1028700"/>
            <a:chOff x="0" y="0"/>
            <a:chExt cx="20434709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MISTRAL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395068" y="9288541"/>
            <a:ext cx="152400" cy="219075"/>
            <a:chOff x="0" y="0"/>
            <a:chExt cx="203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9679" y="6447217"/>
            <a:ext cx="8506520" cy="3029326"/>
            <a:chOff x="0" y="0"/>
            <a:chExt cx="11342027" cy="40391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42026" cy="4039102"/>
            </a:xfrm>
            <a:custGeom>
              <a:avLst/>
              <a:gdLst/>
              <a:ahLst/>
              <a:cxnLst/>
              <a:rect r="r" b="b" t="t" l="l"/>
              <a:pathLst>
                <a:path h="4039102" w="11342026">
                  <a:moveTo>
                    <a:pt x="0" y="0"/>
                  </a:moveTo>
                  <a:lnTo>
                    <a:pt x="11342026" y="0"/>
                  </a:lnTo>
                  <a:lnTo>
                    <a:pt x="11342026" y="4039102"/>
                  </a:lnTo>
                  <a:lnTo>
                    <a:pt x="0" y="40391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342027" cy="40962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16"/>
                </a:lnSpc>
              </a:pPr>
              <a:r>
                <a:rPr lang="en-US" sz="279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                               Mistral-7B-Instruct-v0.2</a:t>
              </a:r>
            </a:p>
            <a:p>
              <a:pPr algn="l">
                <a:lnSpc>
                  <a:spcPts val="3916"/>
                </a:lnSpc>
              </a:pPr>
              <a:r>
                <a:rPr lang="en-US" sz="279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 bit quantization         True</a:t>
              </a:r>
            </a:p>
            <a:p>
              <a:pPr algn="l">
                <a:lnSpc>
                  <a:spcPts val="3916"/>
                </a:lnSpc>
              </a:pPr>
              <a:r>
                <a:rPr lang="en-US" sz="279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Context                             1024</a:t>
              </a:r>
            </a:p>
            <a:p>
              <a:pPr algn="l">
                <a:lnSpc>
                  <a:spcPts val="3916"/>
                </a:lnSpc>
              </a:pPr>
              <a:r>
                <a:rPr lang="en-US" sz="279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Max Length                      150</a:t>
              </a:r>
            </a:p>
            <a:p>
              <a:pPr algn="l">
                <a:lnSpc>
                  <a:spcPts val="3916"/>
                </a:lnSpc>
              </a:pPr>
              <a:r>
                <a:rPr lang="en-US" sz="2797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Early Stopping               True</a:t>
              </a:r>
            </a:p>
            <a:p>
              <a:pPr algn="ctr">
                <a:lnSpc>
                  <a:spcPts val="3916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203" y="200508"/>
            <a:ext cx="17630173" cy="9846219"/>
          </a:xfrm>
          <a:custGeom>
            <a:avLst/>
            <a:gdLst/>
            <a:ahLst/>
            <a:cxnLst/>
            <a:rect r="r" b="b" t="t" l="l"/>
            <a:pathLst>
              <a:path h="9846219" w="17630173">
                <a:moveTo>
                  <a:pt x="0" y="0"/>
                </a:moveTo>
                <a:lnTo>
                  <a:pt x="17630173" y="0"/>
                </a:lnTo>
                <a:lnTo>
                  <a:pt x="17630173" y="9846219"/>
                </a:lnTo>
                <a:lnTo>
                  <a:pt x="0" y="9846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3268" y="1331373"/>
            <a:ext cx="15326032" cy="1028700"/>
            <a:chOff x="0" y="0"/>
            <a:chExt cx="20434709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FINE-TUNING MISTRAL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2182" y="1995821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3370615"/>
            <a:ext cx="15751597" cy="4628954"/>
            <a:chOff x="0" y="0"/>
            <a:chExt cx="21002129" cy="61719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02117" cy="6171946"/>
            </a:xfrm>
            <a:custGeom>
              <a:avLst/>
              <a:gdLst/>
              <a:ahLst/>
              <a:cxnLst/>
              <a:rect r="r" b="b" t="t" l="l"/>
              <a:pathLst>
                <a:path h="6171946" w="21002117">
                  <a:moveTo>
                    <a:pt x="0" y="0"/>
                  </a:moveTo>
                  <a:lnTo>
                    <a:pt x="21002117" y="0"/>
                  </a:lnTo>
                  <a:lnTo>
                    <a:pt x="21002117" y="6171946"/>
                  </a:lnTo>
                  <a:lnTo>
                    <a:pt x="0" y="6171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467" r="0" b="-346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330638" y="9252492"/>
            <a:ext cx="152400" cy="219075"/>
            <a:chOff x="0" y="0"/>
            <a:chExt cx="203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0713" y="240448"/>
            <a:ext cx="17018187" cy="9610336"/>
          </a:xfrm>
          <a:custGeom>
            <a:avLst/>
            <a:gdLst/>
            <a:ahLst/>
            <a:cxnLst/>
            <a:rect r="r" b="b" t="t" l="l"/>
            <a:pathLst>
              <a:path h="9610336" w="17018187">
                <a:moveTo>
                  <a:pt x="0" y="0"/>
                </a:moveTo>
                <a:lnTo>
                  <a:pt x="17018187" y="0"/>
                </a:lnTo>
                <a:lnTo>
                  <a:pt x="17018187" y="9610336"/>
                </a:lnTo>
                <a:lnTo>
                  <a:pt x="0" y="961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6790" y="686285"/>
            <a:ext cx="15326032" cy="1028700"/>
            <a:chOff x="0" y="0"/>
            <a:chExt cx="20434709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PARAMETERS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2182" y="1995821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283644" y="9329915"/>
            <a:ext cx="152400" cy="219075"/>
            <a:chOff x="0" y="0"/>
            <a:chExt cx="2032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52968" y="4632572"/>
            <a:ext cx="9905619" cy="1602663"/>
            <a:chOff x="0" y="0"/>
            <a:chExt cx="13207492" cy="21368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7492" cy="2136884"/>
            </a:xfrm>
            <a:custGeom>
              <a:avLst/>
              <a:gdLst/>
              <a:ahLst/>
              <a:cxnLst/>
              <a:rect r="r" b="b" t="t" l="l"/>
              <a:pathLst>
                <a:path h="2136884" w="13207492">
                  <a:moveTo>
                    <a:pt x="0" y="0"/>
                  </a:moveTo>
                  <a:lnTo>
                    <a:pt x="13207492" y="0"/>
                  </a:lnTo>
                  <a:lnTo>
                    <a:pt x="13207492" y="2136884"/>
                  </a:lnTo>
                  <a:lnTo>
                    <a:pt x="0" y="2136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207492" cy="21845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Total Params: 3,755,479,040</a:t>
              </a:r>
            </a:p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Trainable Params: 3,407,872</a:t>
              </a:r>
            </a:p>
            <a:p>
              <a:pPr algn="l">
                <a:lnSpc>
                  <a:spcPts val="4062"/>
                </a:lnSpc>
              </a:pPr>
              <a:r>
                <a:rPr lang="en-US" sz="29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Percentage : 0.09%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3108406" y="1853326"/>
          <a:ext cx="6705600" cy="75438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</a:tblGrid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Task 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Causal_LM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Target Modules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q_proj, v_proj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Alpha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Dropout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Eval 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Epoch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7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Epochs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8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Learning Rate, Optimizer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5E-5, Adam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994" y="118990"/>
            <a:ext cx="17702012" cy="9790402"/>
          </a:xfrm>
          <a:custGeom>
            <a:avLst/>
            <a:gdLst/>
            <a:ahLst/>
            <a:cxnLst/>
            <a:rect r="r" b="b" t="t" l="l"/>
            <a:pathLst>
              <a:path h="9790402" w="17702012">
                <a:moveTo>
                  <a:pt x="0" y="0"/>
                </a:moveTo>
                <a:lnTo>
                  <a:pt x="17702012" y="0"/>
                </a:lnTo>
                <a:lnTo>
                  <a:pt x="17702012" y="9790402"/>
                </a:lnTo>
                <a:lnTo>
                  <a:pt x="0" y="979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3268" y="914400"/>
            <a:ext cx="15326032" cy="1028700"/>
            <a:chOff x="0" y="0"/>
            <a:chExt cx="20434709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EVALUATION METRICS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8004" y="204229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854228" y="2406547"/>
          <a:ext cx="12433300" cy="6007100"/>
        </p:xfrm>
        <a:graphic>
          <a:graphicData uri="http://schemas.openxmlformats.org/drawingml/2006/table">
            <a:tbl>
              <a:tblPr/>
              <a:tblGrid>
                <a:gridCol w="3150818"/>
                <a:gridCol w="2206444"/>
                <a:gridCol w="2144008"/>
                <a:gridCol w="2255756"/>
                <a:gridCol w="2676274"/>
              </a:tblGrid>
              <a:tr h="13301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Pretrained BART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Fine tuned BART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Pretrained Mistral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Fine tuned Mistral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ROUGE1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ROUGE2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8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ROUGE-L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ROUGE - LSUM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BERT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313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0.82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17358543" y="9388523"/>
            <a:ext cx="152400" cy="219075"/>
            <a:chOff x="0" y="0"/>
            <a:chExt cx="203200" cy="292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9231" y="200835"/>
            <a:ext cx="17688426" cy="9728151"/>
          </a:xfrm>
          <a:custGeom>
            <a:avLst/>
            <a:gdLst/>
            <a:ahLst/>
            <a:cxnLst/>
            <a:rect r="r" b="b" t="t" l="l"/>
            <a:pathLst>
              <a:path h="9728151" w="17688426">
                <a:moveTo>
                  <a:pt x="0" y="0"/>
                </a:moveTo>
                <a:lnTo>
                  <a:pt x="17688426" y="0"/>
                </a:lnTo>
                <a:lnTo>
                  <a:pt x="17688426" y="9728151"/>
                </a:lnTo>
                <a:lnTo>
                  <a:pt x="0" y="972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2677" y="1839809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029514" cy="8146868"/>
            <a:chOff x="0" y="0"/>
            <a:chExt cx="21372685" cy="10862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2703" cy="10862437"/>
            </a:xfrm>
            <a:custGeom>
              <a:avLst/>
              <a:gdLst/>
              <a:ahLst/>
              <a:cxnLst/>
              <a:rect r="r" b="b" t="t" l="l"/>
              <a:pathLst>
                <a:path h="10862437" w="21372703">
                  <a:moveTo>
                    <a:pt x="0" y="0"/>
                  </a:moveTo>
                  <a:lnTo>
                    <a:pt x="21372703" y="0"/>
                  </a:lnTo>
                  <a:lnTo>
                    <a:pt x="21372703" y="10862437"/>
                  </a:lnTo>
                  <a:lnTo>
                    <a:pt x="0" y="10862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11" t="0" r="-121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286007" y="9191625"/>
            <a:ext cx="152400" cy="219075"/>
            <a:chOff x="0" y="0"/>
            <a:chExt cx="203200" cy="292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112" y="159466"/>
            <a:ext cx="17340925" cy="9466103"/>
          </a:xfrm>
          <a:custGeom>
            <a:avLst/>
            <a:gdLst/>
            <a:ahLst/>
            <a:cxnLst/>
            <a:rect r="r" b="b" t="t" l="l"/>
            <a:pathLst>
              <a:path h="9466103" w="17340925">
                <a:moveTo>
                  <a:pt x="0" y="0"/>
                </a:moveTo>
                <a:lnTo>
                  <a:pt x="17340926" y="0"/>
                </a:lnTo>
                <a:lnTo>
                  <a:pt x="17340926" y="9466104"/>
                </a:lnTo>
                <a:lnTo>
                  <a:pt x="0" y="9466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32182" y="1533422"/>
            <a:ext cx="15326032" cy="1028700"/>
            <a:chOff x="0" y="0"/>
            <a:chExt cx="20434709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CHALLENGES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6040" y="1995821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50955" y="3545504"/>
            <a:ext cx="6536659" cy="1123925"/>
            <a:chOff x="0" y="0"/>
            <a:chExt cx="8715545" cy="14985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15629" cy="1498600"/>
            </a:xfrm>
            <a:custGeom>
              <a:avLst/>
              <a:gdLst/>
              <a:ahLst/>
              <a:cxnLst/>
              <a:rect r="r" b="b" t="t" l="l"/>
              <a:pathLst>
                <a:path h="1498600" w="8715629">
                  <a:moveTo>
                    <a:pt x="305816" y="0"/>
                  </a:moveTo>
                  <a:lnTo>
                    <a:pt x="8409813" y="0"/>
                  </a:lnTo>
                  <a:cubicBezTo>
                    <a:pt x="8578723" y="0"/>
                    <a:pt x="8715629" y="136906"/>
                    <a:pt x="8715629" y="305816"/>
                  </a:cubicBezTo>
                  <a:lnTo>
                    <a:pt x="8715629" y="1192784"/>
                  </a:lnTo>
                  <a:cubicBezTo>
                    <a:pt x="8715629" y="1273937"/>
                    <a:pt x="8683371" y="1351661"/>
                    <a:pt x="8626094" y="1409065"/>
                  </a:cubicBezTo>
                  <a:cubicBezTo>
                    <a:pt x="8568817" y="1466469"/>
                    <a:pt x="8490839" y="1498600"/>
                    <a:pt x="8409813" y="1498600"/>
                  </a:cubicBezTo>
                  <a:lnTo>
                    <a:pt x="305816" y="1498600"/>
                  </a:lnTo>
                  <a:cubicBezTo>
                    <a:pt x="136906" y="1498600"/>
                    <a:pt x="0" y="1361694"/>
                    <a:pt x="0" y="1192784"/>
                  </a:cubicBezTo>
                  <a:lnTo>
                    <a:pt x="0" y="305816"/>
                  </a:lnTo>
                  <a:cubicBezTo>
                    <a:pt x="0" y="136906"/>
                    <a:pt x="136906" y="0"/>
                    <a:pt x="30581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50955" y="3328512"/>
            <a:ext cx="6536659" cy="1340917"/>
            <a:chOff x="0" y="0"/>
            <a:chExt cx="8715545" cy="17878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15546" cy="1787889"/>
            </a:xfrm>
            <a:custGeom>
              <a:avLst/>
              <a:gdLst/>
              <a:ahLst/>
              <a:cxnLst/>
              <a:rect r="r" b="b" t="t" l="l"/>
              <a:pathLst>
                <a:path h="1787889" w="8715546">
                  <a:moveTo>
                    <a:pt x="0" y="0"/>
                  </a:moveTo>
                  <a:lnTo>
                    <a:pt x="8715546" y="0"/>
                  </a:lnTo>
                  <a:lnTo>
                    <a:pt x="8715546" y="1787889"/>
                  </a:lnTo>
                  <a:lnTo>
                    <a:pt x="0" y="17878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715545" cy="1845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3"/>
                </a:lnSpc>
              </a:pPr>
              <a:r>
                <a:rPr lang="en-US" sz="251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INCONSISTENT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12061" y="3545504"/>
            <a:ext cx="7033465" cy="1116434"/>
            <a:chOff x="0" y="0"/>
            <a:chExt cx="9377953" cy="14885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77807" cy="1488440"/>
            </a:xfrm>
            <a:custGeom>
              <a:avLst/>
              <a:gdLst/>
              <a:ahLst/>
              <a:cxnLst/>
              <a:rect r="r" b="b" t="t" l="l"/>
              <a:pathLst>
                <a:path h="1488440" w="9377807">
                  <a:moveTo>
                    <a:pt x="284226" y="0"/>
                  </a:moveTo>
                  <a:lnTo>
                    <a:pt x="9093708" y="0"/>
                  </a:lnTo>
                  <a:cubicBezTo>
                    <a:pt x="9169146" y="0"/>
                    <a:pt x="9241409" y="29972"/>
                    <a:pt x="9294622" y="83185"/>
                  </a:cubicBezTo>
                  <a:cubicBezTo>
                    <a:pt x="9347835" y="136398"/>
                    <a:pt x="9377807" y="208788"/>
                    <a:pt x="9377807" y="284099"/>
                  </a:cubicBezTo>
                  <a:lnTo>
                    <a:pt x="9377807" y="1204341"/>
                  </a:lnTo>
                  <a:cubicBezTo>
                    <a:pt x="9377807" y="1279779"/>
                    <a:pt x="9347835" y="1352042"/>
                    <a:pt x="9294622" y="1405255"/>
                  </a:cubicBezTo>
                  <a:cubicBezTo>
                    <a:pt x="9241409" y="1458468"/>
                    <a:pt x="9169019" y="1488440"/>
                    <a:pt x="9093708" y="1488440"/>
                  </a:cubicBezTo>
                  <a:lnTo>
                    <a:pt x="284226" y="1488440"/>
                  </a:lnTo>
                  <a:cubicBezTo>
                    <a:pt x="208915" y="1488440"/>
                    <a:pt x="136525" y="1458468"/>
                    <a:pt x="83312" y="1405255"/>
                  </a:cubicBezTo>
                  <a:cubicBezTo>
                    <a:pt x="30099" y="1352042"/>
                    <a:pt x="0" y="1279779"/>
                    <a:pt x="0" y="1204341"/>
                  </a:cubicBezTo>
                  <a:lnTo>
                    <a:pt x="0" y="284226"/>
                  </a:lnTo>
                  <a:cubicBezTo>
                    <a:pt x="0" y="208788"/>
                    <a:pt x="29972" y="136525"/>
                    <a:pt x="83185" y="83185"/>
                  </a:cubicBezTo>
                  <a:cubicBezTo>
                    <a:pt x="136398" y="29845"/>
                    <a:pt x="208788" y="0"/>
                    <a:pt x="28422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12061" y="3328512"/>
            <a:ext cx="7033465" cy="1333426"/>
            <a:chOff x="0" y="0"/>
            <a:chExt cx="9377953" cy="17779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77953" cy="1777901"/>
            </a:xfrm>
            <a:custGeom>
              <a:avLst/>
              <a:gdLst/>
              <a:ahLst/>
              <a:cxnLst/>
              <a:rect r="r" b="b" t="t" l="l"/>
              <a:pathLst>
                <a:path h="1777901" w="9377953">
                  <a:moveTo>
                    <a:pt x="0" y="0"/>
                  </a:moveTo>
                  <a:lnTo>
                    <a:pt x="9377953" y="0"/>
                  </a:lnTo>
                  <a:lnTo>
                    <a:pt x="9377953" y="1777901"/>
                  </a:lnTo>
                  <a:lnTo>
                    <a:pt x="0" y="17779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377953" cy="18350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3"/>
                </a:lnSpc>
              </a:pPr>
              <a:r>
                <a:rPr lang="en-US" sz="251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MEMORY CONSTRAINTS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59618" y="6430493"/>
            <a:ext cx="6420282" cy="1054932"/>
            <a:chOff x="0" y="0"/>
            <a:chExt cx="8560376" cy="140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60308" cy="1406525"/>
            </a:xfrm>
            <a:custGeom>
              <a:avLst/>
              <a:gdLst/>
              <a:ahLst/>
              <a:cxnLst/>
              <a:rect r="r" b="b" t="t" l="l"/>
              <a:pathLst>
                <a:path h="1406525" w="8560308">
                  <a:moveTo>
                    <a:pt x="311277" y="0"/>
                  </a:moveTo>
                  <a:lnTo>
                    <a:pt x="8249031" y="0"/>
                  </a:lnTo>
                  <a:cubicBezTo>
                    <a:pt x="8331581" y="0"/>
                    <a:pt x="8410829" y="32766"/>
                    <a:pt x="8469123" y="91186"/>
                  </a:cubicBezTo>
                  <a:cubicBezTo>
                    <a:pt x="8527415" y="149606"/>
                    <a:pt x="8560308" y="228727"/>
                    <a:pt x="8560308" y="311277"/>
                  </a:cubicBezTo>
                  <a:lnTo>
                    <a:pt x="8560308" y="1095248"/>
                  </a:lnTo>
                  <a:cubicBezTo>
                    <a:pt x="8560308" y="1177798"/>
                    <a:pt x="8527542" y="1257046"/>
                    <a:pt x="8469123" y="1315339"/>
                  </a:cubicBezTo>
                  <a:cubicBezTo>
                    <a:pt x="8410702" y="1373632"/>
                    <a:pt x="8331581" y="1406525"/>
                    <a:pt x="8249031" y="1406525"/>
                  </a:cubicBezTo>
                  <a:lnTo>
                    <a:pt x="311277" y="1406525"/>
                  </a:lnTo>
                  <a:cubicBezTo>
                    <a:pt x="228727" y="1406525"/>
                    <a:pt x="149479" y="1373759"/>
                    <a:pt x="91186" y="1315339"/>
                  </a:cubicBezTo>
                  <a:cubicBezTo>
                    <a:pt x="32893" y="1256919"/>
                    <a:pt x="0" y="1177798"/>
                    <a:pt x="0" y="1095248"/>
                  </a:cubicBezTo>
                  <a:lnTo>
                    <a:pt x="0" y="311277"/>
                  </a:lnTo>
                  <a:cubicBezTo>
                    <a:pt x="0" y="228727"/>
                    <a:pt x="32766" y="149479"/>
                    <a:pt x="91186" y="91186"/>
                  </a:cubicBezTo>
                  <a:cubicBezTo>
                    <a:pt x="149606" y="32893"/>
                    <a:pt x="228727" y="0"/>
                    <a:pt x="311277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59618" y="6213501"/>
            <a:ext cx="6420282" cy="1271924"/>
            <a:chOff x="0" y="0"/>
            <a:chExt cx="8560376" cy="1695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60376" cy="1695898"/>
            </a:xfrm>
            <a:custGeom>
              <a:avLst/>
              <a:gdLst/>
              <a:ahLst/>
              <a:cxnLst/>
              <a:rect r="r" b="b" t="t" l="l"/>
              <a:pathLst>
                <a:path h="1695898" w="8560376">
                  <a:moveTo>
                    <a:pt x="0" y="0"/>
                  </a:moveTo>
                  <a:lnTo>
                    <a:pt x="8560376" y="0"/>
                  </a:lnTo>
                  <a:lnTo>
                    <a:pt x="8560376" y="1695898"/>
                  </a:lnTo>
                  <a:lnTo>
                    <a:pt x="0" y="16958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560376" cy="1753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3"/>
                </a:lnSpc>
              </a:pPr>
              <a:r>
                <a:rPr lang="en-US" sz="251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REQUIREMENTS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12061" y="6446036"/>
            <a:ext cx="7033465" cy="1054932"/>
            <a:chOff x="0" y="0"/>
            <a:chExt cx="9377953" cy="14065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77807" cy="1406398"/>
            </a:xfrm>
            <a:custGeom>
              <a:avLst/>
              <a:gdLst/>
              <a:ahLst/>
              <a:cxnLst/>
              <a:rect r="r" b="b" t="t" l="l"/>
              <a:pathLst>
                <a:path h="1406398" w="9377807">
                  <a:moveTo>
                    <a:pt x="284226" y="0"/>
                  </a:moveTo>
                  <a:lnTo>
                    <a:pt x="9093708" y="0"/>
                  </a:lnTo>
                  <a:cubicBezTo>
                    <a:pt x="9169146" y="0"/>
                    <a:pt x="9241409" y="29972"/>
                    <a:pt x="9294622" y="83185"/>
                  </a:cubicBezTo>
                  <a:cubicBezTo>
                    <a:pt x="9347835" y="136398"/>
                    <a:pt x="9377807" y="208788"/>
                    <a:pt x="9377807" y="284099"/>
                  </a:cubicBezTo>
                  <a:lnTo>
                    <a:pt x="9377807" y="1122299"/>
                  </a:lnTo>
                  <a:cubicBezTo>
                    <a:pt x="9377807" y="1197737"/>
                    <a:pt x="9347835" y="1270000"/>
                    <a:pt x="9294622" y="1323213"/>
                  </a:cubicBezTo>
                  <a:cubicBezTo>
                    <a:pt x="9241409" y="1376426"/>
                    <a:pt x="9169019" y="1406398"/>
                    <a:pt x="9093708" y="1406398"/>
                  </a:cubicBezTo>
                  <a:lnTo>
                    <a:pt x="284226" y="1406398"/>
                  </a:lnTo>
                  <a:cubicBezTo>
                    <a:pt x="208915" y="1406398"/>
                    <a:pt x="136525" y="1376426"/>
                    <a:pt x="83312" y="1323213"/>
                  </a:cubicBezTo>
                  <a:cubicBezTo>
                    <a:pt x="30099" y="1270000"/>
                    <a:pt x="0" y="1197737"/>
                    <a:pt x="0" y="1122426"/>
                  </a:cubicBezTo>
                  <a:lnTo>
                    <a:pt x="0" y="284226"/>
                  </a:lnTo>
                  <a:cubicBezTo>
                    <a:pt x="0" y="208788"/>
                    <a:pt x="29972" y="136525"/>
                    <a:pt x="83185" y="83185"/>
                  </a:cubicBezTo>
                  <a:cubicBezTo>
                    <a:pt x="136398" y="29845"/>
                    <a:pt x="208788" y="0"/>
                    <a:pt x="284226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12061" y="6229044"/>
            <a:ext cx="7033465" cy="1271924"/>
            <a:chOff x="0" y="0"/>
            <a:chExt cx="9377953" cy="16958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77953" cy="1695898"/>
            </a:xfrm>
            <a:custGeom>
              <a:avLst/>
              <a:gdLst/>
              <a:ahLst/>
              <a:cxnLst/>
              <a:rect r="r" b="b" t="t" l="l"/>
              <a:pathLst>
                <a:path h="1695898" w="9377953">
                  <a:moveTo>
                    <a:pt x="0" y="0"/>
                  </a:moveTo>
                  <a:lnTo>
                    <a:pt x="9377953" y="0"/>
                  </a:lnTo>
                  <a:lnTo>
                    <a:pt x="9377953" y="1695898"/>
                  </a:lnTo>
                  <a:lnTo>
                    <a:pt x="0" y="16958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377953" cy="1753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3"/>
                </a:lnSpc>
              </a:pPr>
              <a:r>
                <a:rPr lang="en-US" sz="2517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HYPERPARAMETER OPTIMIZATION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606736" y="4892518"/>
            <a:ext cx="1291852" cy="1291852"/>
          </a:xfrm>
          <a:custGeom>
            <a:avLst/>
            <a:gdLst/>
            <a:ahLst/>
            <a:cxnLst/>
            <a:rect r="r" b="b" t="t" l="l"/>
            <a:pathLst>
              <a:path h="1291852" w="1291852">
                <a:moveTo>
                  <a:pt x="0" y="0"/>
                </a:moveTo>
                <a:lnTo>
                  <a:pt x="1291852" y="0"/>
                </a:lnTo>
                <a:lnTo>
                  <a:pt x="1291852" y="1291852"/>
                </a:lnTo>
                <a:lnTo>
                  <a:pt x="0" y="12918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68575" y="5186703"/>
            <a:ext cx="768175" cy="734568"/>
          </a:xfrm>
          <a:custGeom>
            <a:avLst/>
            <a:gdLst/>
            <a:ahLst/>
            <a:cxnLst/>
            <a:rect r="r" b="b" t="t" l="l"/>
            <a:pathLst>
              <a:path h="734568" w="768175">
                <a:moveTo>
                  <a:pt x="0" y="0"/>
                </a:moveTo>
                <a:lnTo>
                  <a:pt x="768175" y="0"/>
                </a:lnTo>
                <a:lnTo>
                  <a:pt x="768175" y="734568"/>
                </a:lnTo>
                <a:lnTo>
                  <a:pt x="0" y="734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50" r="0" b="-35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7290795" y="9342437"/>
            <a:ext cx="152400" cy="219075"/>
            <a:chOff x="0" y="0"/>
            <a:chExt cx="203200" cy="292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19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32803" y="4581187"/>
            <a:ext cx="597315" cy="624181"/>
            <a:chOff x="0" y="0"/>
            <a:chExt cx="796420" cy="8322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985" y="7874"/>
              <a:ext cx="782447" cy="816483"/>
            </a:xfrm>
            <a:custGeom>
              <a:avLst/>
              <a:gdLst/>
              <a:ahLst/>
              <a:cxnLst/>
              <a:rect r="r" b="b" t="t" l="l"/>
              <a:pathLst>
                <a:path h="816483" w="782447">
                  <a:moveTo>
                    <a:pt x="745617" y="816483"/>
                  </a:moveTo>
                  <a:lnTo>
                    <a:pt x="0" y="35052"/>
                  </a:lnTo>
                  <a:lnTo>
                    <a:pt x="36830" y="0"/>
                  </a:lnTo>
                  <a:lnTo>
                    <a:pt x="782447" y="78143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700959" y="4638983"/>
            <a:ext cx="354035" cy="472632"/>
            <a:chOff x="0" y="0"/>
            <a:chExt cx="472047" cy="6301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826" y="10414"/>
              <a:ext cx="462407" cy="609346"/>
            </a:xfrm>
            <a:custGeom>
              <a:avLst/>
              <a:gdLst/>
              <a:ahLst/>
              <a:cxnLst/>
              <a:rect r="r" b="b" t="t" l="l"/>
              <a:pathLst>
                <a:path h="609346" w="462407">
                  <a:moveTo>
                    <a:pt x="0" y="579374"/>
                  </a:moveTo>
                  <a:lnTo>
                    <a:pt x="421259" y="0"/>
                  </a:lnTo>
                  <a:lnTo>
                    <a:pt x="462407" y="29845"/>
                  </a:lnTo>
                  <a:lnTo>
                    <a:pt x="41148" y="6093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02124" y="5855935"/>
            <a:ext cx="818153" cy="594349"/>
            <a:chOff x="0" y="0"/>
            <a:chExt cx="1090871" cy="7924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668" y="4699"/>
              <a:ext cx="1069594" cy="783082"/>
            </a:xfrm>
            <a:custGeom>
              <a:avLst/>
              <a:gdLst/>
              <a:ahLst/>
              <a:cxnLst/>
              <a:rect r="r" b="b" t="t" l="l"/>
              <a:pathLst>
                <a:path h="783082" w="1069594">
                  <a:moveTo>
                    <a:pt x="1069594" y="41402"/>
                  </a:moveTo>
                  <a:lnTo>
                    <a:pt x="29464" y="783082"/>
                  </a:lnTo>
                  <a:lnTo>
                    <a:pt x="0" y="741680"/>
                  </a:lnTo>
                  <a:lnTo>
                    <a:pt x="104000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63899" y="6074606"/>
            <a:ext cx="526755" cy="391188"/>
            <a:chOff x="0" y="0"/>
            <a:chExt cx="702340" cy="5215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0541" y="4826"/>
              <a:ext cx="681228" cy="511937"/>
            </a:xfrm>
            <a:custGeom>
              <a:avLst/>
              <a:gdLst/>
              <a:ahLst/>
              <a:cxnLst/>
              <a:rect r="r" b="b" t="t" l="l"/>
              <a:pathLst>
                <a:path h="511937" w="681228">
                  <a:moveTo>
                    <a:pt x="29718" y="0"/>
                  </a:moveTo>
                  <a:lnTo>
                    <a:pt x="681228" y="470789"/>
                  </a:lnTo>
                  <a:lnTo>
                    <a:pt x="651510" y="511937"/>
                  </a:lnTo>
                  <a:lnTo>
                    <a:pt x="0" y="4114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96" y="-26977"/>
            <a:ext cx="17340925" cy="9466103"/>
          </a:xfrm>
          <a:custGeom>
            <a:avLst/>
            <a:gdLst/>
            <a:ahLst/>
            <a:cxnLst/>
            <a:rect r="r" b="b" t="t" l="l"/>
            <a:pathLst>
              <a:path h="9466103" w="17340925">
                <a:moveTo>
                  <a:pt x="0" y="0"/>
                </a:moveTo>
                <a:lnTo>
                  <a:pt x="17340925" y="0"/>
                </a:lnTo>
                <a:lnTo>
                  <a:pt x="17340925" y="9466103"/>
                </a:lnTo>
                <a:lnTo>
                  <a:pt x="0" y="9466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80984" y="591100"/>
            <a:ext cx="15326032" cy="1028700"/>
            <a:chOff x="0" y="0"/>
            <a:chExt cx="20434709" cy="137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FUTURE WORK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22678" y="5892304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2872" y="84657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7836" y="4350962"/>
            <a:ext cx="10115073" cy="5331518"/>
            <a:chOff x="0" y="0"/>
            <a:chExt cx="13486764" cy="71086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86764" cy="7108698"/>
            </a:xfrm>
            <a:custGeom>
              <a:avLst/>
              <a:gdLst/>
              <a:ahLst/>
              <a:cxnLst/>
              <a:rect r="r" b="b" t="t" l="l"/>
              <a:pathLst>
                <a:path h="7108698" w="13486764">
                  <a:moveTo>
                    <a:pt x="0" y="0"/>
                  </a:moveTo>
                  <a:lnTo>
                    <a:pt x="13486764" y="0"/>
                  </a:lnTo>
                  <a:lnTo>
                    <a:pt x="13486764" y="7108698"/>
                  </a:lnTo>
                  <a:lnTo>
                    <a:pt x="0" y="7108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92872" y="2178892"/>
            <a:ext cx="914125" cy="893557"/>
          </a:xfrm>
          <a:custGeom>
            <a:avLst/>
            <a:gdLst/>
            <a:ahLst/>
            <a:cxnLst/>
            <a:rect r="r" b="b" t="t" l="l"/>
            <a:pathLst>
              <a:path h="893557" w="914125">
                <a:moveTo>
                  <a:pt x="0" y="0"/>
                </a:moveTo>
                <a:lnTo>
                  <a:pt x="914125" y="0"/>
                </a:lnTo>
                <a:lnTo>
                  <a:pt x="914125" y="893557"/>
                </a:lnTo>
                <a:lnTo>
                  <a:pt x="0" y="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34" t="0" r="-434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290795" y="9342437"/>
            <a:ext cx="152400" cy="219075"/>
            <a:chOff x="0" y="0"/>
            <a:chExt cx="203200" cy="292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292100"/>
            </a:xfrm>
            <a:custGeom>
              <a:avLst/>
              <a:gdLst/>
              <a:ahLst/>
              <a:cxnLst/>
              <a:rect r="r" b="b" t="t" l="l"/>
              <a:pathLst>
                <a:path h="2921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92100"/>
                  </a:lnTo>
                  <a:lnTo>
                    <a:pt x="0" y="292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3200" cy="3587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6997" y="2297430"/>
            <a:ext cx="15351217" cy="3181350"/>
            <a:chOff x="0" y="0"/>
            <a:chExt cx="20468289" cy="4241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68289" cy="4241800"/>
            </a:xfrm>
            <a:custGeom>
              <a:avLst/>
              <a:gdLst/>
              <a:ahLst/>
              <a:cxnLst/>
              <a:rect r="r" b="b" t="t" l="l"/>
              <a:pathLst>
                <a:path h="4241800" w="20468289">
                  <a:moveTo>
                    <a:pt x="0" y="0"/>
                  </a:moveTo>
                  <a:lnTo>
                    <a:pt x="20468289" y="0"/>
                  </a:lnTo>
                  <a:lnTo>
                    <a:pt x="20468289" y="4241800"/>
                  </a:lnTo>
                  <a:lnTo>
                    <a:pt x="0" y="4241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0468289" cy="42989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Extend Mistral fine-tuning to more than one epoch for improved summary quality and performance</a:t>
              </a:r>
            </a:p>
            <a:p>
              <a:pPr algn="l">
                <a:lnSpc>
                  <a:spcPts val="4200"/>
                </a:lnSpc>
              </a:pPr>
            </a:p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Develop an interactive demo interface to generate summaries for Mistral fine tuned model.</a:t>
              </a:r>
            </a:p>
            <a:p>
              <a:pPr algn="l">
                <a:lnSpc>
                  <a:spcPts val="42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92872" y="3783942"/>
            <a:ext cx="914125" cy="893557"/>
          </a:xfrm>
          <a:custGeom>
            <a:avLst/>
            <a:gdLst/>
            <a:ahLst/>
            <a:cxnLst/>
            <a:rect r="r" b="b" t="t" l="l"/>
            <a:pathLst>
              <a:path h="893557" w="914125">
                <a:moveTo>
                  <a:pt x="0" y="0"/>
                </a:moveTo>
                <a:lnTo>
                  <a:pt x="914125" y="0"/>
                </a:lnTo>
                <a:lnTo>
                  <a:pt x="914125" y="893557"/>
                </a:lnTo>
                <a:lnTo>
                  <a:pt x="0" y="8935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34" t="0" r="-434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9210675"/>
            <a:ext cx="152400" cy="200025"/>
            <a:chOff x="0" y="0"/>
            <a:chExt cx="2032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66700"/>
            </a:xfrm>
            <a:custGeom>
              <a:avLst/>
              <a:gdLst/>
              <a:ahLst/>
              <a:cxnLst/>
              <a:rect r="r" b="b" t="t" l="l"/>
              <a:pathLst>
                <a:path h="2667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3200" cy="3143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37" y="410448"/>
            <a:ext cx="17340925" cy="9466103"/>
          </a:xfrm>
          <a:custGeom>
            <a:avLst/>
            <a:gdLst/>
            <a:ahLst/>
            <a:cxnLst/>
            <a:rect r="r" b="b" t="t" l="l"/>
            <a:pathLst>
              <a:path h="9466103" w="17340925">
                <a:moveTo>
                  <a:pt x="0" y="0"/>
                </a:moveTo>
                <a:lnTo>
                  <a:pt x="17340925" y="0"/>
                </a:lnTo>
                <a:lnTo>
                  <a:pt x="17340925" y="9466103"/>
                </a:lnTo>
                <a:lnTo>
                  <a:pt x="0" y="9466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141608"/>
            <a:ext cx="15326032" cy="1028700"/>
            <a:chOff x="0" y="0"/>
            <a:chExt cx="20434709" cy="1371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3470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434709">
                  <a:moveTo>
                    <a:pt x="0" y="0"/>
                  </a:moveTo>
                  <a:lnTo>
                    <a:pt x="20434709" y="0"/>
                  </a:lnTo>
                  <a:lnTo>
                    <a:pt x="20434709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0434709" cy="14859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60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DEMO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7728" y="2974794"/>
            <a:ext cx="13627976" cy="1889253"/>
            <a:chOff x="0" y="0"/>
            <a:chExt cx="18170635" cy="25190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70635" cy="2519004"/>
            </a:xfrm>
            <a:custGeom>
              <a:avLst/>
              <a:gdLst/>
              <a:ahLst/>
              <a:cxnLst/>
              <a:rect r="r" b="b" t="t" l="l"/>
              <a:pathLst>
                <a:path h="2519004" w="18170635">
                  <a:moveTo>
                    <a:pt x="0" y="0"/>
                  </a:moveTo>
                  <a:lnTo>
                    <a:pt x="18170635" y="0"/>
                  </a:lnTo>
                  <a:lnTo>
                    <a:pt x="18170635" y="2519004"/>
                  </a:lnTo>
                  <a:lnTo>
                    <a:pt x="0" y="25190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8170635" cy="258567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5067"/>
                </a:lnSpc>
              </a:pPr>
              <a:r>
                <a:rPr lang="en-US" sz="3619" u="sng">
                  <a:solidFill>
                    <a:srgbClr val="0000FF"/>
                  </a:solidFill>
                  <a:latin typeface="Varela Round"/>
                  <a:ea typeface="Varela Round"/>
                  <a:cs typeface="Varela Round"/>
                  <a:sym typeface="Varela Round"/>
                  <a:hlinkClick r:id="rId4" tooltip="https://d4fffb12f4b7d982d1.gradio.live"/>
                </a:rPr>
                <a:t>LINK FOR INTERFACE</a:t>
              </a:r>
            </a:p>
            <a:p>
              <a:pPr algn="ctr">
                <a:lnSpc>
                  <a:spcPts val="5067"/>
                </a:lnSpc>
              </a:pPr>
            </a:p>
            <a:p>
              <a:pPr algn="ctr">
                <a:lnSpc>
                  <a:spcPts val="5067"/>
                </a:lnSpc>
              </a:pPr>
              <a:r>
                <a:rPr lang="en-US" sz="3619" u="sng">
                  <a:solidFill>
                    <a:srgbClr val="0000FF"/>
                  </a:solidFill>
                  <a:latin typeface="Varela Round"/>
                  <a:ea typeface="Varela Round"/>
                  <a:cs typeface="Varela Round"/>
                  <a:sym typeface="Varela Round"/>
                  <a:hlinkClick r:id="rId5" tooltip="https://d4fffb12f4b7d982d1.gradio.live"/>
                </a:rPr>
                <a:t>BART MODEL INTERFACE 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836225" y="5406529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9210675"/>
            <a:ext cx="152400" cy="200025"/>
            <a:chOff x="0" y="0"/>
            <a:chExt cx="203200" cy="266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66700"/>
            </a:xfrm>
            <a:custGeom>
              <a:avLst/>
              <a:gdLst/>
              <a:ahLst/>
              <a:cxnLst/>
              <a:rect r="r" b="b" t="t" l="l"/>
              <a:pathLst>
                <a:path h="2667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3200" cy="3143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2227" y="554181"/>
            <a:ext cx="17754248" cy="9180565"/>
            <a:chOff x="0" y="0"/>
            <a:chExt cx="23672331" cy="122407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72292" cy="12240768"/>
            </a:xfrm>
            <a:custGeom>
              <a:avLst/>
              <a:gdLst/>
              <a:ahLst/>
              <a:cxnLst/>
              <a:rect r="r" b="b" t="t" l="l"/>
              <a:pathLst>
                <a:path h="12240768" w="23672292">
                  <a:moveTo>
                    <a:pt x="0" y="0"/>
                  </a:moveTo>
                  <a:lnTo>
                    <a:pt x="23672292" y="0"/>
                  </a:lnTo>
                  <a:lnTo>
                    <a:pt x="23672292" y="12240768"/>
                  </a:lnTo>
                  <a:lnTo>
                    <a:pt x="0" y="12240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0" t="0" r="-179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7203" y="260042"/>
            <a:ext cx="17042923" cy="9179084"/>
          </a:xfrm>
          <a:custGeom>
            <a:avLst/>
            <a:gdLst/>
            <a:ahLst/>
            <a:cxnLst/>
            <a:rect r="r" b="b" t="t" l="l"/>
            <a:pathLst>
              <a:path h="9179084" w="17042923">
                <a:moveTo>
                  <a:pt x="0" y="0"/>
                </a:moveTo>
                <a:lnTo>
                  <a:pt x="17042923" y="0"/>
                </a:lnTo>
                <a:lnTo>
                  <a:pt x="17042923" y="9179084"/>
                </a:lnTo>
                <a:lnTo>
                  <a:pt x="0" y="9179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27397" y="3818082"/>
            <a:ext cx="11633205" cy="2393660"/>
            <a:chOff x="0" y="0"/>
            <a:chExt cx="15510940" cy="31915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0940" cy="3191547"/>
            </a:xfrm>
            <a:custGeom>
              <a:avLst/>
              <a:gdLst/>
              <a:ahLst/>
              <a:cxnLst/>
              <a:rect r="r" b="b" t="t" l="l"/>
              <a:pathLst>
                <a:path h="3191547" w="15510940">
                  <a:moveTo>
                    <a:pt x="0" y="0"/>
                  </a:moveTo>
                  <a:lnTo>
                    <a:pt x="15510940" y="0"/>
                  </a:lnTo>
                  <a:lnTo>
                    <a:pt x="15510940" y="3191547"/>
                  </a:lnTo>
                  <a:lnTo>
                    <a:pt x="0" y="31915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57175"/>
              <a:ext cx="15510940" cy="3448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9679"/>
                </a:lnSpc>
              </a:pPr>
              <a:r>
                <a:rPr lang="en-US" sz="14056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Q &amp; A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11093" y="7977318"/>
            <a:ext cx="1605331" cy="579335"/>
          </a:xfrm>
          <a:custGeom>
            <a:avLst/>
            <a:gdLst/>
            <a:ahLst/>
            <a:cxnLst/>
            <a:rect r="r" b="b" t="t" l="l"/>
            <a:pathLst>
              <a:path h="579335" w="1605331">
                <a:moveTo>
                  <a:pt x="0" y="0"/>
                </a:moveTo>
                <a:lnTo>
                  <a:pt x="1605331" y="0"/>
                </a:lnTo>
                <a:lnTo>
                  <a:pt x="1605331" y="579335"/>
                </a:lnTo>
                <a:lnTo>
                  <a:pt x="0" y="579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47114" y="7977319"/>
            <a:ext cx="965529" cy="579335"/>
          </a:xfrm>
          <a:custGeom>
            <a:avLst/>
            <a:gdLst/>
            <a:ahLst/>
            <a:cxnLst/>
            <a:rect r="r" b="b" t="t" l="l"/>
            <a:pathLst>
              <a:path h="579335" w="965529">
                <a:moveTo>
                  <a:pt x="0" y="0"/>
                </a:moveTo>
                <a:lnTo>
                  <a:pt x="965530" y="0"/>
                </a:lnTo>
                <a:lnTo>
                  <a:pt x="965530" y="579335"/>
                </a:lnTo>
                <a:lnTo>
                  <a:pt x="0" y="5793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47115" y="8640383"/>
            <a:ext cx="2569310" cy="475042"/>
          </a:xfrm>
          <a:custGeom>
            <a:avLst/>
            <a:gdLst/>
            <a:ahLst/>
            <a:cxnLst/>
            <a:rect r="r" b="b" t="t" l="l"/>
            <a:pathLst>
              <a:path h="475042" w="2569310">
                <a:moveTo>
                  <a:pt x="0" y="0"/>
                </a:moveTo>
                <a:lnTo>
                  <a:pt x="2569311" y="0"/>
                </a:lnTo>
                <a:lnTo>
                  <a:pt x="2569311" y="475042"/>
                </a:lnTo>
                <a:lnTo>
                  <a:pt x="0" y="4750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70874" y="5473204"/>
            <a:ext cx="583125" cy="1615832"/>
          </a:xfrm>
          <a:custGeom>
            <a:avLst/>
            <a:gdLst/>
            <a:ahLst/>
            <a:cxnLst/>
            <a:rect r="r" b="b" t="t" l="l"/>
            <a:pathLst>
              <a:path h="1615832" w="583125">
                <a:moveTo>
                  <a:pt x="0" y="0"/>
                </a:moveTo>
                <a:lnTo>
                  <a:pt x="583125" y="0"/>
                </a:lnTo>
                <a:lnTo>
                  <a:pt x="583125" y="1615832"/>
                </a:lnTo>
                <a:lnTo>
                  <a:pt x="0" y="16158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70874" y="7087476"/>
            <a:ext cx="583125" cy="971844"/>
          </a:xfrm>
          <a:custGeom>
            <a:avLst/>
            <a:gdLst/>
            <a:ahLst/>
            <a:cxnLst/>
            <a:rect r="r" b="b" t="t" l="l"/>
            <a:pathLst>
              <a:path h="971844" w="583125">
                <a:moveTo>
                  <a:pt x="0" y="0"/>
                </a:moveTo>
                <a:lnTo>
                  <a:pt x="583125" y="0"/>
                </a:lnTo>
                <a:lnTo>
                  <a:pt x="583125" y="971844"/>
                </a:lnTo>
                <a:lnTo>
                  <a:pt x="0" y="9718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38276" y="5473204"/>
            <a:ext cx="478149" cy="2586116"/>
          </a:xfrm>
          <a:custGeom>
            <a:avLst/>
            <a:gdLst/>
            <a:ahLst/>
            <a:cxnLst/>
            <a:rect r="r" b="b" t="t" l="l"/>
            <a:pathLst>
              <a:path h="2586116" w="478149">
                <a:moveTo>
                  <a:pt x="0" y="0"/>
                </a:moveTo>
                <a:lnTo>
                  <a:pt x="478149" y="0"/>
                </a:lnTo>
                <a:lnTo>
                  <a:pt x="478149" y="2586116"/>
                </a:lnTo>
                <a:lnTo>
                  <a:pt x="0" y="25861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3701" y="237003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5175" y="338420"/>
            <a:ext cx="17160489" cy="9473000"/>
          </a:xfrm>
          <a:custGeom>
            <a:avLst/>
            <a:gdLst/>
            <a:ahLst/>
            <a:cxnLst/>
            <a:rect r="r" b="b" t="t" l="l"/>
            <a:pathLst>
              <a:path h="9473000" w="17160489">
                <a:moveTo>
                  <a:pt x="0" y="0"/>
                </a:moveTo>
                <a:lnTo>
                  <a:pt x="17160489" y="0"/>
                </a:lnTo>
                <a:lnTo>
                  <a:pt x="17160489" y="9473000"/>
                </a:lnTo>
                <a:lnTo>
                  <a:pt x="0" y="947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27397" y="3818082"/>
            <a:ext cx="11633205" cy="2393660"/>
            <a:chOff x="0" y="0"/>
            <a:chExt cx="15510940" cy="31915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10940" cy="3191547"/>
            </a:xfrm>
            <a:custGeom>
              <a:avLst/>
              <a:gdLst/>
              <a:ahLst/>
              <a:cxnLst/>
              <a:rect r="r" b="b" t="t" l="l"/>
              <a:pathLst>
                <a:path h="3191547" w="15510940">
                  <a:moveTo>
                    <a:pt x="0" y="0"/>
                  </a:moveTo>
                  <a:lnTo>
                    <a:pt x="15510940" y="0"/>
                  </a:lnTo>
                  <a:lnTo>
                    <a:pt x="15510940" y="3191547"/>
                  </a:lnTo>
                  <a:lnTo>
                    <a:pt x="0" y="31915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57175"/>
              <a:ext cx="15510940" cy="34487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19679"/>
                </a:lnSpc>
              </a:pPr>
              <a:r>
                <a:rPr lang="en-US" sz="14056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Thank you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33701" y="2370034"/>
            <a:ext cx="1376224" cy="364252"/>
          </a:xfrm>
          <a:custGeom>
            <a:avLst/>
            <a:gdLst/>
            <a:ahLst/>
            <a:cxnLst/>
            <a:rect r="r" b="b" t="t" l="l"/>
            <a:pathLst>
              <a:path h="364252" w="1376224">
                <a:moveTo>
                  <a:pt x="0" y="0"/>
                </a:moveTo>
                <a:lnTo>
                  <a:pt x="1376224" y="0"/>
                </a:lnTo>
                <a:lnTo>
                  <a:pt x="1376224" y="364252"/>
                </a:lnTo>
                <a:lnTo>
                  <a:pt x="0" y="364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8728" y="5752048"/>
            <a:ext cx="3589197" cy="4880471"/>
          </a:xfrm>
          <a:custGeom>
            <a:avLst/>
            <a:gdLst/>
            <a:ahLst/>
            <a:cxnLst/>
            <a:rect r="r" b="b" t="t" l="l"/>
            <a:pathLst>
              <a:path h="4880471" w="3589197">
                <a:moveTo>
                  <a:pt x="0" y="0"/>
                </a:moveTo>
                <a:lnTo>
                  <a:pt x="3589197" y="0"/>
                </a:lnTo>
                <a:lnTo>
                  <a:pt x="3589197" y="4880471"/>
                </a:lnTo>
                <a:lnTo>
                  <a:pt x="0" y="48804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DAGlPFFAWQA</dc:identifier>
  <dcterms:modified xsi:type="dcterms:W3CDTF">2011-08-01T06:04:30Z</dcterms:modified>
  <cp:revision>1</cp:revision>
  <dc:title>White Grey Minimalist Geometric Project Presentation.pptx</dc:title>
</cp:coreProperties>
</file>